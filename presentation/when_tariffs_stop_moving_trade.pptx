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1.jpeg" ContentType="image/jpeg"/>
  <Override PartName="/ppt/notesSlides/notesSlide4.xml" ContentType="application/vnd.openxmlformats-officedocument.presentationml.notesSlide+xml"/>
  <Override PartName="/ppt/media/image2.jpeg" ContentType="image/jpeg"/>
  <Override PartName="/ppt/notesSlides/notesSlide5.xml" ContentType="application/vnd.openxmlformats-officedocument.presentationml.notesSlide+xml"/>
  <Override PartName="/ppt/media/image3.jpeg" ContentType="image/jpeg"/>
  <Override PartName="/ppt/notesSlides/notesSlide6.xml" ContentType="application/vnd.openxmlformats-officedocument.presentationml.notesSlide+xml"/>
  <Override PartName="/ppt/media/image4.jpe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5.jpeg" ContentType="image/jpeg"/>
  <Override PartName="/ppt/notesSlides/notesSlide9.xml" ContentType="application/vnd.openxmlformats-officedocument.presentationml.notesSlide+xml"/>
  <Override PartName="/ppt/media/image6.jpeg" ContentType="image/jpeg"/>
  <Override PartName="/ppt/notesSlides/notesSlide10.xml" ContentType="application/vnd.openxmlformats-officedocument.presentationml.notesSlide+xml"/>
  <Override PartName="/ppt/media/image7.jpeg" ContentType="image/jpe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8.jpeg" ContentType="image/jpeg"/>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9.jpeg" ContentType="image/jpeg"/>
  <Override PartName="/ppt/notesSlides/notesSlide16.xml" ContentType="application/vnd.openxmlformats-officedocument.presentationml.notesSlide+xml"/>
  <Override PartName="/ppt/media/image10.jpeg" ContentType="image/jpeg"/>
  <Override PartName="/ppt/notesSlides/notesSlide17.xml" ContentType="application/vnd.openxmlformats-officedocument.presentationml.notesSlide+xml"/>
  <Override PartName="/ppt/media/image11.jpeg" ContentType="image/jpeg"/>
  <Override PartName="/ppt/notesSlides/notesSlide18.xml" ContentType="application/vnd.openxmlformats-officedocument.presentationml.notesSlide+xml"/>
  <Override PartName="/ppt/media/image1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 name="Shape 28"/>
          <p:cNvSpPr/>
          <p:nvPr>
            <p:ph type="sldImg"/>
          </p:nvPr>
        </p:nvSpPr>
        <p:spPr>
          <a:prstGeom prst="rect">
            <a:avLst/>
          </a:prstGeom>
        </p:spPr>
        <p:txBody>
          <a:bodyPr/>
          <a:lstStyle/>
          <a:p>
            <a:pPr/>
          </a:p>
        </p:txBody>
      </p:sp>
      <p:sp>
        <p:nvSpPr>
          <p:cNvPr id="29" name="Shape 29"/>
          <p:cNvSpPr/>
          <p:nvPr>
            <p:ph type="body" sz="quarter" idx="1"/>
          </p:nvPr>
        </p:nvSpPr>
        <p:spPr>
          <a:prstGeom prst="rect">
            <a:avLst/>
          </a:prstGeom>
        </p:spPr>
        <p:txBody>
          <a:bodyPr/>
          <a:lstStyle/>
          <a:p>
            <a:pPr/>
            <a:r>
              <a:t>Today I'm going to show you something that I think is genuinely surprising. We started with a question: can a model trained on the 2019 US-China trade war predict what happened in 2025? The short answer is no. But the reason why is more interesting than the failure itself.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 name="Shape 59"/>
          <p:cNvSpPr/>
          <p:nvPr>
            <p:ph type="sldImg"/>
          </p:nvPr>
        </p:nvSpPr>
        <p:spPr>
          <a:prstGeom prst="rect">
            <a:avLst/>
          </a:prstGeom>
        </p:spPr>
        <p:txBody>
          <a:bodyPr/>
          <a:lstStyle/>
          <a:p>
            <a:pPr/>
          </a:p>
        </p:txBody>
      </p:sp>
      <p:sp>
        <p:nvSpPr>
          <p:cNvPr id="60" name="Shape 60"/>
          <p:cNvSpPr/>
          <p:nvPr>
            <p:ph type="body" sz="quarter" idx="1"/>
          </p:nvPr>
        </p:nvSpPr>
        <p:spPr>
          <a:prstGeom prst="rect">
            <a:avLst/>
          </a:prstGeom>
        </p:spPr>
        <p:txBody>
          <a:bodyPr/>
          <a:lstStyle/>
          <a:p>
            <a:pPr/>
            <a:r>
              <a:t>Before the findings, a word on the data. This project pulls from three independent sources — UN Comtrade for the actual trade flows, Chad Bown's Section 301 dataset for the 2019 tariff rates, and the WTO Tariff Actions database for the 2025 rates. Eighteen scripts, fully reproducible. The match rate between the tariff data and the trade data is 100% for both episodes. Every number in this deck traces back to a documented source.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 name="Shape 78"/>
          <p:cNvSpPr/>
          <p:nvPr>
            <p:ph type="sldImg"/>
          </p:nvPr>
        </p:nvSpPr>
        <p:spPr>
          <a:prstGeom prst="rect">
            <a:avLst/>
          </a:prstGeom>
        </p:spPr>
        <p:txBody>
          <a:bodyPr/>
          <a:lstStyle/>
          <a:p>
            <a:pPr/>
          </a:p>
        </p:txBody>
      </p:sp>
      <p:sp>
        <p:nvSpPr>
          <p:cNvPr id="79" name="Shape 79"/>
          <p:cNvSpPr/>
          <p:nvPr>
            <p:ph type="body" sz="quarter" idx="1"/>
          </p:nvPr>
        </p:nvSpPr>
        <p:spPr>
          <a:prstGeom prst="rect">
            <a:avLst/>
          </a:prstGeom>
        </p:spPr>
        <p:txBody>
          <a:bodyPr/>
          <a:lstStyle/>
          <a:p>
            <a:pPr/>
            <a:r>
              <a:t>Here's the first finding, and it's methodological. The blue line is the HS6 relationship — 3,201 individual products. Clear negative slope. The red dots are the same data aggregated to 97 broad chapters — essentially invisible. Same trade war, same tariffs, two different resolutions. The reason the signal weakens at the chapter level is that each chapter contains a mix of tariffed and untariffed products. Averaging them together dilutes the effect. Much of the signal is lost when products are aggregated into broad chapters. The relationship becomes much clearer at the level where the policy is actually applied.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r>
              <a:t>At the product level, the 2019 relationship is unmistakable. Products with no tariff grew about 18% above baseline. Products facing the highest tariffs fell about 23%. That's a clear dose-response: higher tariffs, larger declines. Statistically, the relationship is extremely strong — you can see that in the tight confidence band around the regression line. This is the model we're about to test on 2025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hape 118"/>
          <p:cNvSpPr/>
          <p:nvPr>
            <p:ph type="sldImg"/>
          </p:nvPr>
        </p:nvSpPr>
        <p:spPr>
          <a:prstGeom prst="rect">
            <a:avLst/>
          </a:prstGeom>
        </p:spPr>
        <p:txBody>
          <a:bodyPr/>
          <a:lstStyle/>
          <a:p>
            <a:pPr/>
          </a:p>
        </p:txBody>
      </p:sp>
      <p:sp>
        <p:nvSpPr>
          <p:cNvPr id="119" name="Shape 119"/>
          <p:cNvSpPr/>
          <p:nvPr>
            <p:ph type="body" sz="quarter" idx="1"/>
          </p:nvPr>
        </p:nvSpPr>
        <p:spPr>
          <a:prstGeom prst="rect">
            <a:avLst/>
          </a:prstGeom>
        </p:spPr>
        <p:txBody>
          <a:bodyPr/>
          <a:lstStyle/>
          <a:p>
            <a:pPr/>
            <a:r>
              <a:t>We took that Trump 1 model and applied it out-of-sample to 3,164 products at actual 2025 tariff rates. The dashed blue line is what the model predicted. The solid red line is what actually happened. For products facing the highest tariffs, the model predicted a decline of 84%. The actual decline was 26%. That's a 58 percentage point gap.</a:t>
            </a:r>
          </a:p>
          <a:p>
            <a:pPr/>
          </a:p>
          <a:p>
            <a:pPr/>
            <a:r>
              <a:t>[Pause.]</a:t>
            </a:r>
          </a:p>
          <a:p>
            <a:pPr/>
          </a:p>
          <a:p>
            <a:pPr/>
            <a:r>
              <a:t>The model learned Trump 1. The world changed. The model broke.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129"/>
          <p:cNvSpPr/>
          <p:nvPr>
            <p:ph type="sldImg"/>
          </p:nvPr>
        </p:nvSpPr>
        <p:spPr>
          <a:prstGeom prst="rect">
            <a:avLst/>
          </a:prstGeom>
        </p:spPr>
        <p:txBody>
          <a:bodyPr/>
          <a:lstStyle/>
          <a:p>
            <a:pPr/>
          </a:p>
        </p:txBody>
      </p:sp>
      <p:sp>
        <p:nvSpPr>
          <p:cNvPr id="130" name="Shape 130"/>
          <p:cNvSpPr/>
          <p:nvPr>
            <p:ph type="body" sz="quarter" idx="1"/>
          </p:nvPr>
        </p:nvSpPr>
        <p:spPr>
          <a:prstGeom prst="rect">
            <a:avLst/>
          </a:prstGeom>
        </p:spPr>
        <p:txBody>
          <a:bodyPr/>
          <a:lstStyle/>
          <a:p>
            <a:pPr/>
            <a:r>
              <a:t>So why did it fail? The left panel shows the Trump 1 relationship — steep negative slope, strong signal. The right panel shows the same regression on 2025 data. Essentially flat. Not significant. The simplest explanation is that the underlying relationship changed. The assumption that higher tariffs correspond to larger import declines stopped being true by 2025.</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Shape 140"/>
          <p:cNvSpPr/>
          <p:nvPr>
            <p:ph type="sldImg"/>
          </p:nvPr>
        </p:nvSpPr>
        <p:spPr>
          <a:prstGeom prst="rect">
            <a:avLst/>
          </a:prstGeom>
        </p:spPr>
        <p:txBody>
          <a:bodyPr/>
          <a:lstStyle/>
          <a:p>
            <a:pPr/>
          </a:p>
        </p:txBody>
      </p:sp>
      <p:sp>
        <p:nvSpPr>
          <p:cNvPr id="141" name="Shape 141"/>
          <p:cNvSpPr/>
          <p:nvPr>
            <p:ph type="body" sz="quarter" idx="1"/>
          </p:nvPr>
        </p:nvSpPr>
        <p:spPr>
          <a:prstGeom prst="rect">
            <a:avLst/>
          </a:prstGeom>
        </p:spPr>
        <p:txBody>
          <a:bodyPr/>
          <a:lstStyle/>
          <a:p>
            <a:pPr/>
            <a:r>
              <a:t>This slide makes the same point without any regression at all. No model, no p-values. Just a simple question: do higher tariffs still correspond to bigger declines? In 2019 — yes. Clear staircase on the left. Untariffed products grew. Heavily tariffed products fell. In 2025 — no. Every bucket on the right falls roughly the same amount, regardless of tariff level. Low tariff, high tariff, makes no difference. The dose-response vanished.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r>
              <a:t>Before asking why the relationship disappeared, it's worth asking how predictive it actually was in 2019. A logistic model trained on three features gives an AUC of 0.689. The S-curve here shows the predicted probability of a large import decline as a function of tariff rate. At zero tariff, roughly 10% chance. At 30% tariff, roughly 50% — a coin flip. The model is useful but not precise, which is honest given we're working with annual cross-sectional data.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p>
            <a:pPr/>
            <a:r>
              <a:t>What drives the logistic model? Tariff rate dominates — that's the point on the far right, well clear of zero with a tight confidence interval. Product size has a significant negative effect — larger products appear more resilient after controlling for tariff rate. Trade asymmetry adds essentially nothing to the prediction.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We compared the logistic model against Random Forest and XGBoost using the same three features and the same train-test split. Logistic: 0.677. Random Forest: 0.657. XGBoost: 0.630. The simpler model performs best. At least with these features, additional model complexity does not improve predictive performance.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r>
              <a:t>Four things to take away. One: the signal lives at the resolution where the policy is applied — HS6, not HS2. Two: in 2019, tariffs strongly predicted disruption. The relationship was real. Three: that relationship largely disappeared by 2025. Products that disappeared from US-China trade by 2025 were significantly more elastic than those that remained. But even among the elastic products that stayed, tariff intensity no longer predicted outcomes. Selection explains part of the story. Not all of it. Understanding what changed in the remaining trade flows is the next stage of this research. Four: simple models outperformed complex ones with these features. Trade adapted faster than the original tariff model predicted.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a:r>
              <a:t>Three important caveats. First, this is a product-level analysis, not a firm-level one. We can observe trade outcomes, but not how individual firms adapted. Second, we can document the disappearance of the tariff-response relationship, but we cannot fully separate supply-chain restructuring, trade diversion, tariff circumvention, and other adaptation mechanisms. Third, our elasticity results are preliminary and cover about 85% of products. They suggest one mechanism, but not the whole story.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Shape 245"/>
          <p:cNvSpPr/>
          <p:nvPr>
            <p:ph type="sldImg"/>
          </p:nvPr>
        </p:nvSpPr>
        <p:spPr>
          <a:prstGeom prst="rect">
            <a:avLst/>
          </a:prstGeom>
        </p:spPr>
        <p:txBody>
          <a:bodyPr/>
          <a:lstStyle/>
          <a:p>
            <a:pPr/>
          </a:p>
        </p:txBody>
      </p:sp>
      <p:sp>
        <p:nvSpPr>
          <p:cNvPr id="246" name="Shape 246"/>
          <p:cNvSpPr/>
          <p:nvPr>
            <p:ph type="body" sz="quarter" idx="1"/>
          </p:nvPr>
        </p:nvSpPr>
        <p:spPr>
          <a:prstGeom prst="rect">
            <a:avLst/>
          </a:prstGeom>
        </p:spPr>
        <p:txBody>
          <a:bodyPr/>
          <a:lstStyle/>
          <a:p>
            <a:pPr/>
            <a:r>
              <a:t>The Harmonized System classifies every traded product. HS2 gives us 97 broad chapters — Machinery, Live Animals, Chemicals. HS6 gives us over 5,000 subheadings. Tariffs are applied at HS6. Our analysis uses 3,201 HS6 products with matched tariff and trade 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255"/>
          <p:cNvSpPr/>
          <p:nvPr>
            <p:ph type="sldImg"/>
          </p:nvPr>
        </p:nvSpPr>
        <p:spPr>
          <a:prstGeom prst="rect">
            <a:avLst/>
          </a:prstGeom>
        </p:spPr>
        <p:txBody>
          <a:bodyPr/>
          <a:lstStyle/>
          <a:p>
            <a:pPr/>
          </a:p>
        </p:txBody>
      </p:sp>
      <p:sp>
        <p:nvSpPr>
          <p:cNvPr id="256" name="Shape 256"/>
          <p:cNvSpPr/>
          <p:nvPr>
            <p:ph type="body" sz="quarter" idx="1"/>
          </p:nvPr>
        </p:nvSpPr>
        <p:spPr>
          <a:prstGeom prst="rect">
            <a:avLst/>
          </a:prstGeom>
        </p:spPr>
        <p:txBody>
          <a:bodyPr/>
          <a:lstStyle/>
          <a:p>
            <a:pPr/>
            <a:r>
              <a:t>Trump 1 tariffs clustered at discrete levels — 0, 7.5, 15, and 25% — reflecting the three Lists under Section 301. Trump 2 is a much broader distribution with a median of 41%, reflecting the layering of Section 301 plus IEEPA tariffs. These are genuinely different policy regimes, not just a larger version of the same thing.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hape 263"/>
          <p:cNvSpPr/>
          <p:nvPr>
            <p:ph type="sldImg"/>
          </p:nvPr>
        </p:nvSpPr>
        <p:spPr>
          <a:prstGeom prst="rect">
            <a:avLst/>
          </a:prstGeom>
        </p:spPr>
        <p:txBody>
          <a:bodyPr/>
          <a:lstStyle/>
          <a:p>
            <a:pPr/>
          </a:p>
        </p:txBody>
      </p:sp>
      <p:sp>
        <p:nvSpPr>
          <p:cNvPr id="264" name="Shape 264"/>
          <p:cNvSpPr/>
          <p:nvPr>
            <p:ph type="body" sz="quarter" idx="1"/>
          </p:nvPr>
        </p:nvSpPr>
        <p:spPr>
          <a:prstGeom prst="rect">
            <a:avLst/>
          </a:prstGeom>
        </p:spPr>
        <p:txBody>
          <a:bodyPr/>
          <a:lstStyle/>
          <a:p>
            <a:pPr/>
            <a:r>
              <a:t>Three source datasets, two analysis datasets. The key technical step is standardizing HS6 codes to six characters before joining — without that, the same product appears under different code formats and the merge fails. Match rates of 100% for both primary tariff merges.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The blue shaded window is our Trump 1 cross-section — 2019 outcomes against a 2015-17 baseline. The red window is Trump 2 — 2025 outcomes against a 2022-24 baseline. The timeline shows the full escalation path and why we chose the November 2025 snapshot — rates had stabilized after the Geneva talks partial rollback earlier that year.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Shape 279"/>
          <p:cNvSpPr/>
          <p:nvPr>
            <p:ph type="sldImg"/>
          </p:nvPr>
        </p:nvSpPr>
        <p:spPr>
          <a:prstGeom prst="rect">
            <a:avLst/>
          </a:prstGeom>
        </p:spPr>
        <p:txBody>
          <a:bodyPr/>
          <a:lstStyle/>
          <a:p>
            <a:pPr/>
          </a:p>
        </p:txBody>
      </p:sp>
      <p:sp>
        <p:nvSpPr>
          <p:cNvPr id="280" name="Shape 280"/>
          <p:cNvSpPr/>
          <p:nvPr>
            <p:ph type="body" sz="quarter" idx="1"/>
          </p:nvPr>
        </p:nvSpPr>
        <p:spPr>
          <a:prstGeom prst="rect">
            <a:avLst/>
          </a:prstGeom>
        </p:spPr>
        <p:txBody>
          <a:bodyPr/>
          <a:lstStyle/>
          <a:p>
            <a:pPr/>
            <a:r>
              <a:t>This is the single strongest piece of backup evidence in the project. No assumptions, no model. Just: did higher tariffs correspond to bigger declines? The answer changed from yes in 2019 to no in 2025. If someone challenges the regression results, this slide still holds.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301"/>
          <p:cNvSpPr/>
          <p:nvPr>
            <p:ph type="sldImg"/>
          </p:nvPr>
        </p:nvSpPr>
        <p:spPr>
          <a:prstGeom prst="rect">
            <a:avLst/>
          </a:prstGeom>
        </p:spPr>
        <p:txBody>
          <a:bodyPr/>
          <a:lstStyle/>
          <a:p>
            <a:pPr/>
          </a:p>
        </p:txBody>
      </p:sp>
      <p:sp>
        <p:nvSpPr>
          <p:cNvPr id="302" name="Shape 302"/>
          <p:cNvSpPr/>
          <p:nvPr>
            <p:ph type="body" sz="quarter" idx="1"/>
          </p:nvPr>
        </p:nvSpPr>
        <p:spPr>
          <a:prstGeom prst="rect">
            <a:avLst/>
          </a:prstGeom>
        </p:spPr>
        <p:txBody>
          <a:bodyPr/>
          <a:lstStyle/>
          <a:p>
            <a:pPr/>
            <a:r>
              <a:t>Products that disappeared from US-China trade by 2025 had a mean elasticity of minus 11.6. Products still trading had minus 8.7. That difference is statistically very strong. So the more price-sensitive products exited first — exactly what the selection story predicts. But look at the right panel: even among the most elastic surviving products, the slope in 2025 is essentially zero. Selection explains who exited. It doesn't fully explain why the survivors stopped responding. That's where the research goes next.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jpe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0"/>
            <a:ext cx="9144000" cy="5143500"/>
          </a:xfrm>
          <a:prstGeom prst="rect">
            <a:avLst/>
          </a:prstGeom>
          <a:solidFill>
            <a:srgbClr val="F7F9FC"/>
          </a:solidFill>
          <a:ln w="12700">
            <a:miter lim="400000"/>
          </a:ln>
        </p:spPr>
        <p:txBody>
          <a:bodyPr lIns="45719" rIns="45719"/>
          <a:lstStyle/>
          <a:p>
            <a:pPr/>
          </a:p>
        </p:txBody>
      </p:sp>
      <p:sp>
        <p:nvSpPr>
          <p:cNvPr id="21" name="Shape 1"/>
          <p:cNvSpPr/>
          <p:nvPr/>
        </p:nvSpPr>
        <p:spPr>
          <a:xfrm>
            <a:off x="0" y="0"/>
            <a:ext cx="109728" cy="5143500"/>
          </a:xfrm>
          <a:prstGeom prst="rect">
            <a:avLst/>
          </a:prstGeom>
          <a:solidFill>
            <a:srgbClr val="4A6FA5"/>
          </a:solidFill>
          <a:ln w="12700">
            <a:miter lim="400000"/>
          </a:ln>
        </p:spPr>
        <p:txBody>
          <a:bodyPr lIns="45719" rIns="45719"/>
          <a:lstStyle/>
          <a:p>
            <a:pPr/>
          </a:p>
        </p:txBody>
      </p:sp>
      <p:sp>
        <p:nvSpPr>
          <p:cNvPr id="22" name="Shape 2"/>
          <p:cNvSpPr/>
          <p:nvPr/>
        </p:nvSpPr>
        <p:spPr>
          <a:xfrm>
            <a:off x="457200" y="3401567"/>
            <a:ext cx="3200400" cy="1"/>
          </a:xfrm>
          <a:prstGeom prst="line">
            <a:avLst/>
          </a:prstGeom>
          <a:ln w="19050">
            <a:solidFill>
              <a:srgbClr val="4A6FA5"/>
            </a:solidFill>
          </a:ln>
        </p:spPr>
        <p:txBody>
          <a:bodyPr lIns="45719" rIns="45719"/>
          <a:lstStyle/>
          <a:p>
            <a:pPr/>
          </a:p>
        </p:txBody>
      </p:sp>
      <p:sp>
        <p:nvSpPr>
          <p:cNvPr id="23" name="Text 3"/>
          <p:cNvSpPr txBox="1"/>
          <p:nvPr/>
        </p:nvSpPr>
        <p:spPr>
          <a:xfrm>
            <a:off x="502919" y="468919"/>
            <a:ext cx="813816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50" sz="800">
                <a:solidFill>
                  <a:srgbClr val="666666"/>
                </a:solidFill>
              </a:defRPr>
            </a:lvl1pPr>
          </a:lstStyle>
          <a:p>
            <a:pPr/>
            <a:r>
              <a:t>WHARTON DATA SCIENCE ACADEMY  ·  CAPSTONE 2026</a:t>
            </a:r>
          </a:p>
        </p:txBody>
      </p:sp>
      <p:sp>
        <p:nvSpPr>
          <p:cNvPr id="24" name="Text 4"/>
          <p:cNvSpPr txBox="1"/>
          <p:nvPr/>
        </p:nvSpPr>
        <p:spPr>
          <a:xfrm>
            <a:off x="502919" y="991058"/>
            <a:ext cx="8138161" cy="141030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4600">
                <a:solidFill>
                  <a:srgbClr val="1E2761"/>
                </a:solidFill>
              </a:defRPr>
            </a:pPr>
            <a:r>
              <a:t>When Tariffs Stop</a:t>
            </a:r>
          </a:p>
          <a:p>
            <a:pPr>
              <a:defRPr b="1" sz="4600">
                <a:solidFill>
                  <a:srgbClr val="1E2761"/>
                </a:solidFill>
              </a:defRPr>
            </a:pPr>
            <a:r>
              <a:t>Moving Trade</a:t>
            </a:r>
          </a:p>
        </p:txBody>
      </p:sp>
      <p:sp>
        <p:nvSpPr>
          <p:cNvPr id="25" name="Text 5"/>
          <p:cNvSpPr txBox="1"/>
          <p:nvPr/>
        </p:nvSpPr>
        <p:spPr>
          <a:xfrm>
            <a:off x="502919" y="2764221"/>
            <a:ext cx="740664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solidFill>
                  <a:srgbClr val="333333"/>
                </a:solidFill>
              </a:defRPr>
            </a:lvl1pPr>
          </a:lstStyle>
          <a:p>
            <a:pPr/>
            <a:r>
              <a:t>A predictive test of tariff effectiveness across two US–China trade-war episodes</a:t>
            </a:r>
          </a:p>
        </p:txBody>
      </p:sp>
      <p:sp>
        <p:nvSpPr>
          <p:cNvPr id="26" name="Text 6"/>
          <p:cNvSpPr txBox="1"/>
          <p:nvPr/>
        </p:nvSpPr>
        <p:spPr>
          <a:xfrm>
            <a:off x="502919" y="3565074"/>
            <a:ext cx="448056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761"/>
                </a:solidFill>
              </a:defRPr>
            </a:lvl1pPr>
          </a:lstStyle>
          <a:p>
            <a:pPr/>
            <a:r>
              <a:t>Nikhil Muthukumar</a:t>
            </a:r>
          </a:p>
        </p:txBody>
      </p:sp>
      <p:sp>
        <p:nvSpPr>
          <p:cNvPr id="27" name="Text 7"/>
          <p:cNvSpPr txBox="1"/>
          <p:nvPr/>
        </p:nvSpPr>
        <p:spPr>
          <a:xfrm>
            <a:off x="502919" y="3899960"/>
            <a:ext cx="63093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666666"/>
                </a:solidFill>
              </a:defRPr>
            </a:lvl1pPr>
          </a:lstStyle>
          <a:p>
            <a:pPr/>
            <a:r>
              <a:t>Data: UN Comtrade · Bown (2021) · WTO Tariff Actions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32" name="Shape 1"/>
          <p:cNvSpPr/>
          <p:nvPr/>
        </p:nvSpPr>
        <p:spPr>
          <a:xfrm>
            <a:off x="365760" y="201168"/>
            <a:ext cx="1920240" cy="246889"/>
          </a:xfrm>
          <a:prstGeom prst="rect">
            <a:avLst/>
          </a:prstGeom>
          <a:solidFill>
            <a:srgbClr val="E8EEF4"/>
          </a:solidFill>
          <a:ln>
            <a:solidFill>
              <a:srgbClr val="4A6FA5"/>
            </a:solidFill>
          </a:ln>
        </p:spPr>
        <p:txBody>
          <a:bodyPr lIns="45719" rIns="45719"/>
          <a:lstStyle/>
          <a:p>
            <a:pPr/>
          </a:p>
        </p:txBody>
      </p:sp>
      <p:sp>
        <p:nvSpPr>
          <p:cNvPr id="33" name="Text 2"/>
          <p:cNvSpPr txBox="1"/>
          <p:nvPr/>
        </p:nvSpPr>
        <p:spPr>
          <a:xfrm>
            <a:off x="365760" y="261111"/>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DATA &amp; PIPELINE</a:t>
            </a:r>
          </a:p>
        </p:txBody>
      </p:sp>
      <p:sp>
        <p:nvSpPr>
          <p:cNvPr id="34"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This took serious engineering</a:t>
            </a:r>
          </a:p>
        </p:txBody>
      </p:sp>
      <p:sp>
        <p:nvSpPr>
          <p:cNvPr id="35" name="Shape 4"/>
          <p:cNvSpPr/>
          <p:nvPr/>
        </p:nvSpPr>
        <p:spPr>
          <a:xfrm>
            <a:off x="320040" y="1234439"/>
            <a:ext cx="1600201" cy="2286001"/>
          </a:xfrm>
          <a:prstGeom prst="rect">
            <a:avLst/>
          </a:prstGeom>
          <a:solidFill>
            <a:srgbClr val="F7F9FC"/>
          </a:solidFill>
          <a:ln>
            <a:solidFill>
              <a:srgbClr val="EEEEEE"/>
            </a:solidFill>
          </a:ln>
        </p:spPr>
        <p:txBody>
          <a:bodyPr lIns="45719" rIns="45719"/>
          <a:lstStyle/>
          <a:p>
            <a:pPr/>
          </a:p>
        </p:txBody>
      </p:sp>
      <p:sp>
        <p:nvSpPr>
          <p:cNvPr id="36" name="Text 5"/>
          <p:cNvSpPr txBox="1"/>
          <p:nvPr/>
        </p:nvSpPr>
        <p:spPr>
          <a:xfrm>
            <a:off x="365760" y="1469523"/>
            <a:ext cx="15087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000">
                <a:solidFill>
                  <a:srgbClr val="4A6FA5"/>
                </a:solidFill>
              </a:defRPr>
            </a:lvl1pPr>
          </a:lstStyle>
          <a:p>
            <a:pPr/>
            <a:r>
              <a:t>3</a:t>
            </a:r>
          </a:p>
        </p:txBody>
      </p:sp>
      <p:sp>
        <p:nvSpPr>
          <p:cNvPr id="37" name="Text 6"/>
          <p:cNvSpPr txBox="1"/>
          <p:nvPr/>
        </p:nvSpPr>
        <p:spPr>
          <a:xfrm>
            <a:off x="365760" y="2118282"/>
            <a:ext cx="1508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data sources</a:t>
            </a:r>
          </a:p>
        </p:txBody>
      </p:sp>
      <p:sp>
        <p:nvSpPr>
          <p:cNvPr id="38" name="Text 7"/>
          <p:cNvSpPr txBox="1"/>
          <p:nvPr/>
        </p:nvSpPr>
        <p:spPr>
          <a:xfrm>
            <a:off x="365760" y="2502930"/>
            <a:ext cx="1508761" cy="3799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900">
                <a:solidFill>
                  <a:srgbClr val="333333"/>
                </a:solidFill>
              </a:defRPr>
            </a:pPr>
            <a:r>
              <a:t>Comtrade · Bown</a:t>
            </a:r>
          </a:p>
          <a:p>
            <a:pPr algn="ctr">
              <a:lnSpc>
                <a:spcPct val="130000"/>
              </a:lnSpc>
              <a:defRPr sz="900">
                <a:solidFill>
                  <a:srgbClr val="333333"/>
                </a:solidFill>
              </a:defRPr>
            </a:pPr>
            <a:r>
              <a:t>WTO Tariff Actions</a:t>
            </a:r>
          </a:p>
        </p:txBody>
      </p:sp>
      <p:sp>
        <p:nvSpPr>
          <p:cNvPr id="39" name="Shape 8"/>
          <p:cNvSpPr/>
          <p:nvPr/>
        </p:nvSpPr>
        <p:spPr>
          <a:xfrm>
            <a:off x="2057400" y="1234439"/>
            <a:ext cx="1600200" cy="2286001"/>
          </a:xfrm>
          <a:prstGeom prst="rect">
            <a:avLst/>
          </a:prstGeom>
          <a:solidFill>
            <a:srgbClr val="F7F9FC"/>
          </a:solidFill>
          <a:ln>
            <a:solidFill>
              <a:srgbClr val="EEEEEE"/>
            </a:solidFill>
          </a:ln>
        </p:spPr>
        <p:txBody>
          <a:bodyPr lIns="45719" rIns="45719"/>
          <a:lstStyle/>
          <a:p>
            <a:pPr/>
          </a:p>
        </p:txBody>
      </p:sp>
      <p:sp>
        <p:nvSpPr>
          <p:cNvPr id="40" name="Text 9"/>
          <p:cNvSpPr txBox="1"/>
          <p:nvPr/>
        </p:nvSpPr>
        <p:spPr>
          <a:xfrm>
            <a:off x="2103120" y="1469523"/>
            <a:ext cx="15087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000">
                <a:solidFill>
                  <a:srgbClr val="4A6FA5"/>
                </a:solidFill>
              </a:defRPr>
            </a:lvl1pPr>
          </a:lstStyle>
          <a:p>
            <a:pPr/>
            <a:r>
              <a:t>3,201</a:t>
            </a:r>
          </a:p>
        </p:txBody>
      </p:sp>
      <p:sp>
        <p:nvSpPr>
          <p:cNvPr id="41" name="Text 10"/>
          <p:cNvSpPr txBox="1"/>
          <p:nvPr/>
        </p:nvSpPr>
        <p:spPr>
          <a:xfrm>
            <a:off x="2103120" y="2118282"/>
            <a:ext cx="1508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products (2019)</a:t>
            </a:r>
          </a:p>
        </p:txBody>
      </p:sp>
      <p:sp>
        <p:nvSpPr>
          <p:cNvPr id="42" name="Text 11"/>
          <p:cNvSpPr txBox="1"/>
          <p:nvPr/>
        </p:nvSpPr>
        <p:spPr>
          <a:xfrm>
            <a:off x="2103120" y="2502930"/>
            <a:ext cx="1508761" cy="3799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900">
                <a:solidFill>
                  <a:srgbClr val="333333"/>
                </a:solidFill>
              </a:defRPr>
            </a:pPr>
            <a:r>
              <a:t>HS6 subheadings</a:t>
            </a:r>
          </a:p>
          <a:p>
            <a:pPr algn="ctr">
              <a:lnSpc>
                <a:spcPct val="130000"/>
              </a:lnSpc>
              <a:defRPr sz="900">
                <a:solidFill>
                  <a:srgbClr val="333333"/>
                </a:solidFill>
              </a:defRPr>
            </a:pPr>
            <a:r>
              <a:t>Trump 1 analysis</a:t>
            </a:r>
          </a:p>
        </p:txBody>
      </p:sp>
      <p:sp>
        <p:nvSpPr>
          <p:cNvPr id="43" name="Shape 12"/>
          <p:cNvSpPr/>
          <p:nvPr/>
        </p:nvSpPr>
        <p:spPr>
          <a:xfrm>
            <a:off x="3794759" y="1234439"/>
            <a:ext cx="1600201" cy="2286001"/>
          </a:xfrm>
          <a:prstGeom prst="rect">
            <a:avLst/>
          </a:prstGeom>
          <a:solidFill>
            <a:srgbClr val="F7F9FC"/>
          </a:solidFill>
          <a:ln>
            <a:solidFill>
              <a:srgbClr val="EEEEEE"/>
            </a:solidFill>
          </a:ln>
        </p:spPr>
        <p:txBody>
          <a:bodyPr lIns="45719" rIns="45719"/>
          <a:lstStyle/>
          <a:p>
            <a:pPr/>
          </a:p>
        </p:txBody>
      </p:sp>
      <p:sp>
        <p:nvSpPr>
          <p:cNvPr id="44" name="Text 13"/>
          <p:cNvSpPr txBox="1"/>
          <p:nvPr/>
        </p:nvSpPr>
        <p:spPr>
          <a:xfrm>
            <a:off x="3840479" y="1469523"/>
            <a:ext cx="15087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000">
                <a:solidFill>
                  <a:srgbClr val="4A6FA5"/>
                </a:solidFill>
              </a:defRPr>
            </a:lvl1pPr>
          </a:lstStyle>
          <a:p>
            <a:pPr/>
            <a:r>
              <a:t>3,164</a:t>
            </a:r>
          </a:p>
        </p:txBody>
      </p:sp>
      <p:sp>
        <p:nvSpPr>
          <p:cNvPr id="45" name="Text 14"/>
          <p:cNvSpPr txBox="1"/>
          <p:nvPr/>
        </p:nvSpPr>
        <p:spPr>
          <a:xfrm>
            <a:off x="3840479" y="2118282"/>
            <a:ext cx="1508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products (2025)</a:t>
            </a:r>
          </a:p>
        </p:txBody>
      </p:sp>
      <p:sp>
        <p:nvSpPr>
          <p:cNvPr id="46" name="Text 15"/>
          <p:cNvSpPr txBox="1"/>
          <p:nvPr/>
        </p:nvSpPr>
        <p:spPr>
          <a:xfrm>
            <a:off x="3840479" y="2502930"/>
            <a:ext cx="1508761" cy="3799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900">
                <a:solidFill>
                  <a:srgbClr val="333333"/>
                </a:solidFill>
              </a:defRPr>
            </a:pPr>
            <a:r>
              <a:t>HS6 subheadings</a:t>
            </a:r>
          </a:p>
          <a:p>
            <a:pPr algn="ctr">
              <a:lnSpc>
                <a:spcPct val="130000"/>
              </a:lnSpc>
              <a:defRPr sz="900">
                <a:solidFill>
                  <a:srgbClr val="333333"/>
                </a:solidFill>
              </a:defRPr>
            </a:pPr>
            <a:r>
              <a:t>Trump 2 analysis</a:t>
            </a:r>
          </a:p>
        </p:txBody>
      </p:sp>
      <p:sp>
        <p:nvSpPr>
          <p:cNvPr id="47" name="Shape 16"/>
          <p:cNvSpPr/>
          <p:nvPr/>
        </p:nvSpPr>
        <p:spPr>
          <a:xfrm>
            <a:off x="5532120" y="1234439"/>
            <a:ext cx="1600201" cy="2286001"/>
          </a:xfrm>
          <a:prstGeom prst="rect">
            <a:avLst/>
          </a:prstGeom>
          <a:solidFill>
            <a:srgbClr val="F7F9FC"/>
          </a:solidFill>
          <a:ln>
            <a:solidFill>
              <a:srgbClr val="EEEEEE"/>
            </a:solidFill>
          </a:ln>
        </p:spPr>
        <p:txBody>
          <a:bodyPr lIns="45719" rIns="45719"/>
          <a:lstStyle/>
          <a:p>
            <a:pPr/>
          </a:p>
        </p:txBody>
      </p:sp>
      <p:sp>
        <p:nvSpPr>
          <p:cNvPr id="48" name="Text 17"/>
          <p:cNvSpPr txBox="1"/>
          <p:nvPr/>
        </p:nvSpPr>
        <p:spPr>
          <a:xfrm>
            <a:off x="5577840" y="1469523"/>
            <a:ext cx="15087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000">
                <a:solidFill>
                  <a:srgbClr val="4A6FA5"/>
                </a:solidFill>
              </a:defRPr>
            </a:lvl1pPr>
          </a:lstStyle>
          <a:p>
            <a:pPr/>
            <a:r>
              <a:t>100%</a:t>
            </a:r>
          </a:p>
        </p:txBody>
      </p:sp>
      <p:sp>
        <p:nvSpPr>
          <p:cNvPr id="49" name="Text 18"/>
          <p:cNvSpPr txBox="1"/>
          <p:nvPr/>
        </p:nvSpPr>
        <p:spPr>
          <a:xfrm>
            <a:off x="5577840" y="2118282"/>
            <a:ext cx="1508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match rate</a:t>
            </a:r>
          </a:p>
        </p:txBody>
      </p:sp>
      <p:sp>
        <p:nvSpPr>
          <p:cNvPr id="50" name="Text 19"/>
          <p:cNvSpPr txBox="1"/>
          <p:nvPr/>
        </p:nvSpPr>
        <p:spPr>
          <a:xfrm>
            <a:off x="5577840" y="2502930"/>
            <a:ext cx="1508761" cy="3799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900">
                <a:solidFill>
                  <a:srgbClr val="333333"/>
                </a:solidFill>
              </a:defRPr>
            </a:pPr>
            <a:r>
              <a:t>tariff-to-product</a:t>
            </a:r>
          </a:p>
          <a:p>
            <a:pPr algn="ctr">
              <a:lnSpc>
                <a:spcPct val="130000"/>
              </a:lnSpc>
              <a:defRPr sz="900">
                <a:solidFill>
                  <a:srgbClr val="333333"/>
                </a:solidFill>
              </a:defRPr>
            </a:pPr>
            <a:r>
              <a:t>both episodes</a:t>
            </a:r>
          </a:p>
        </p:txBody>
      </p:sp>
      <p:sp>
        <p:nvSpPr>
          <p:cNvPr id="51" name="Shape 20"/>
          <p:cNvSpPr/>
          <p:nvPr/>
        </p:nvSpPr>
        <p:spPr>
          <a:xfrm>
            <a:off x="7269480" y="1234439"/>
            <a:ext cx="1600201" cy="2286001"/>
          </a:xfrm>
          <a:prstGeom prst="rect">
            <a:avLst/>
          </a:prstGeom>
          <a:solidFill>
            <a:srgbClr val="F7F9FC"/>
          </a:solidFill>
          <a:ln>
            <a:solidFill>
              <a:srgbClr val="EEEEEE"/>
            </a:solidFill>
          </a:ln>
        </p:spPr>
        <p:txBody>
          <a:bodyPr lIns="45719" rIns="45719"/>
          <a:lstStyle/>
          <a:p>
            <a:pPr/>
          </a:p>
        </p:txBody>
      </p:sp>
      <p:sp>
        <p:nvSpPr>
          <p:cNvPr id="52" name="Text 21"/>
          <p:cNvSpPr txBox="1"/>
          <p:nvPr/>
        </p:nvSpPr>
        <p:spPr>
          <a:xfrm>
            <a:off x="7315200" y="1469523"/>
            <a:ext cx="150876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000">
                <a:solidFill>
                  <a:srgbClr val="4A6FA5"/>
                </a:solidFill>
              </a:defRPr>
            </a:lvl1pPr>
          </a:lstStyle>
          <a:p>
            <a:pPr/>
            <a:r>
              <a:t>18</a:t>
            </a:r>
          </a:p>
        </p:txBody>
      </p:sp>
      <p:sp>
        <p:nvSpPr>
          <p:cNvPr id="53" name="Text 22"/>
          <p:cNvSpPr txBox="1"/>
          <p:nvPr/>
        </p:nvSpPr>
        <p:spPr>
          <a:xfrm>
            <a:off x="7315200" y="2118282"/>
            <a:ext cx="1508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scripts</a:t>
            </a:r>
          </a:p>
        </p:txBody>
      </p:sp>
      <p:sp>
        <p:nvSpPr>
          <p:cNvPr id="54" name="Text 23"/>
          <p:cNvSpPr txBox="1"/>
          <p:nvPr/>
        </p:nvSpPr>
        <p:spPr>
          <a:xfrm>
            <a:off x="7315200" y="2502930"/>
            <a:ext cx="1508761" cy="3799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900">
                <a:solidFill>
                  <a:srgbClr val="333333"/>
                </a:solidFill>
              </a:defRPr>
            </a:pPr>
            <a:r>
              <a:t>fully reproducible</a:t>
            </a:r>
          </a:p>
          <a:p>
            <a:pPr algn="ctr">
              <a:lnSpc>
                <a:spcPct val="130000"/>
              </a:lnSpc>
              <a:defRPr sz="900">
                <a:solidFill>
                  <a:srgbClr val="333333"/>
                </a:solidFill>
              </a:defRPr>
            </a:pPr>
            <a:r>
              <a:t>renv-locked</a:t>
            </a:r>
          </a:p>
        </p:txBody>
      </p:sp>
      <p:sp>
        <p:nvSpPr>
          <p:cNvPr id="55" name="Text 24"/>
          <p:cNvSpPr txBox="1"/>
          <p:nvPr/>
        </p:nvSpPr>
        <p:spPr>
          <a:xfrm>
            <a:off x="411479" y="3728379"/>
            <a:ext cx="832104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666666"/>
                </a:solidFill>
              </a:defRPr>
            </a:lvl1pPr>
          </a:lstStyle>
          <a:p>
            <a:pPr/>
            <a:r>
              <a:t>Sources: UN Comtrade API  ·  Bown (2021) HS6 tariffs  ·  WTO Tariff Actions Nov-2025</a:t>
            </a:r>
          </a:p>
        </p:txBody>
      </p:sp>
      <p:sp>
        <p:nvSpPr>
          <p:cNvPr id="56" name="Shape 25"/>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57" name="Shape 26"/>
          <p:cNvSpPr/>
          <p:nvPr/>
        </p:nvSpPr>
        <p:spPr>
          <a:xfrm>
            <a:off x="0" y="4617720"/>
            <a:ext cx="9144000" cy="1"/>
          </a:xfrm>
          <a:prstGeom prst="line">
            <a:avLst/>
          </a:prstGeom>
          <a:ln w="12700">
            <a:solidFill>
              <a:srgbClr val="4A6FA5"/>
            </a:solidFill>
          </a:ln>
        </p:spPr>
        <p:txBody>
          <a:bodyPr lIns="45719" rIns="45719"/>
          <a:lstStyle/>
          <a:p>
            <a:pPr/>
          </a:p>
        </p:txBody>
      </p:sp>
      <p:sp>
        <p:nvSpPr>
          <p:cNvPr id="58" name="Text 27"/>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Three independent sources · 100% primary match rate · every number is reproducible.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63" name="Shape 1"/>
          <p:cNvSpPr/>
          <p:nvPr/>
        </p:nvSpPr>
        <p:spPr>
          <a:xfrm>
            <a:off x="365760" y="201168"/>
            <a:ext cx="1920240" cy="246889"/>
          </a:xfrm>
          <a:prstGeom prst="rect">
            <a:avLst/>
          </a:prstGeom>
          <a:solidFill>
            <a:srgbClr val="E8EEF4"/>
          </a:solidFill>
          <a:ln>
            <a:solidFill>
              <a:srgbClr val="4A6FA5"/>
            </a:solidFill>
          </a:ln>
        </p:spPr>
        <p:txBody>
          <a:bodyPr lIns="45719" rIns="45719"/>
          <a:lstStyle/>
          <a:p>
            <a:pPr/>
          </a:p>
        </p:txBody>
      </p:sp>
      <p:sp>
        <p:nvSpPr>
          <p:cNvPr id="64" name="Text 2"/>
          <p:cNvSpPr txBox="1"/>
          <p:nvPr/>
        </p:nvSpPr>
        <p:spPr>
          <a:xfrm>
            <a:off x="365760" y="261111"/>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RESOLUTION</a:t>
            </a:r>
          </a:p>
        </p:txBody>
      </p:sp>
      <p:sp>
        <p:nvSpPr>
          <p:cNvPr id="65"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Why did earlier studies miss the signal?</a:t>
            </a:r>
          </a:p>
        </p:txBody>
      </p:sp>
      <p:pic>
        <p:nvPicPr>
          <p:cNvPr id="66" name="Image 0" descr="Image 0"/>
          <p:cNvPicPr>
            <a:picLocks noChangeAspect="1"/>
          </p:cNvPicPr>
          <p:nvPr/>
        </p:nvPicPr>
        <p:blipFill>
          <a:blip r:embed="rId3">
            <a:extLst/>
          </a:blip>
          <a:stretch>
            <a:fillRect/>
          </a:stretch>
        </p:blipFill>
        <p:spPr>
          <a:xfrm>
            <a:off x="274320" y="1115567"/>
            <a:ext cx="6583681" cy="3429001"/>
          </a:xfrm>
          <a:prstGeom prst="rect">
            <a:avLst/>
          </a:prstGeom>
          <a:ln w="12700">
            <a:miter lim="400000"/>
          </a:ln>
        </p:spPr>
      </p:pic>
      <p:sp>
        <p:nvSpPr>
          <p:cNvPr id="67" name="Shape 4"/>
          <p:cNvSpPr/>
          <p:nvPr/>
        </p:nvSpPr>
        <p:spPr>
          <a:xfrm>
            <a:off x="6995159" y="1371600"/>
            <a:ext cx="1828801" cy="1463041"/>
          </a:xfrm>
          <a:prstGeom prst="rect">
            <a:avLst/>
          </a:prstGeom>
          <a:solidFill>
            <a:srgbClr val="E8EEF4"/>
          </a:solidFill>
          <a:ln>
            <a:solidFill>
              <a:srgbClr val="4A6FA5"/>
            </a:solidFill>
          </a:ln>
        </p:spPr>
        <p:txBody>
          <a:bodyPr lIns="45719" rIns="45719"/>
          <a:lstStyle/>
          <a:p>
            <a:pPr/>
          </a:p>
        </p:txBody>
      </p:sp>
      <p:sp>
        <p:nvSpPr>
          <p:cNvPr id="68" name="Text 5"/>
          <p:cNvSpPr txBox="1"/>
          <p:nvPr/>
        </p:nvSpPr>
        <p:spPr>
          <a:xfrm>
            <a:off x="7040879" y="1581669"/>
            <a:ext cx="1737361" cy="10429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5000"/>
              </a:lnSpc>
              <a:defRPr b="1" sz="1300">
                <a:solidFill>
                  <a:srgbClr val="1E2761"/>
                </a:solidFill>
              </a:defRPr>
            </a:pPr>
            <a:r>
              <a:t>Same trade war.</a:t>
            </a:r>
          </a:p>
          <a:p>
            <a:pPr algn="ctr">
              <a:lnSpc>
                <a:spcPct val="135000"/>
              </a:lnSpc>
              <a:defRPr b="1" sz="1300">
                <a:solidFill>
                  <a:srgbClr val="1E2761"/>
                </a:solidFill>
              </a:defRPr>
            </a:pPr>
            <a:r>
              <a:t>Same tariffs.</a:t>
            </a:r>
          </a:p>
          <a:p>
            <a:pPr algn="ctr">
              <a:lnSpc>
                <a:spcPct val="135000"/>
              </a:lnSpc>
              <a:defRPr b="1" sz="1300">
                <a:solidFill>
                  <a:srgbClr val="1E2761"/>
                </a:solidFill>
              </a:defRPr>
            </a:pPr>
            <a:r>
              <a:t>Different</a:t>
            </a:r>
          </a:p>
          <a:p>
            <a:pPr algn="ctr">
              <a:lnSpc>
                <a:spcPct val="135000"/>
              </a:lnSpc>
              <a:defRPr b="1" sz="1300">
                <a:solidFill>
                  <a:srgbClr val="1E2761"/>
                </a:solidFill>
              </a:defRPr>
            </a:pPr>
            <a:r>
              <a:t>resolution.</a:t>
            </a:r>
          </a:p>
        </p:txBody>
      </p:sp>
      <p:sp>
        <p:nvSpPr>
          <p:cNvPr id="69" name="Shape 6"/>
          <p:cNvSpPr/>
          <p:nvPr/>
        </p:nvSpPr>
        <p:spPr>
          <a:xfrm>
            <a:off x="6995159" y="3017520"/>
            <a:ext cx="1828801" cy="1417321"/>
          </a:xfrm>
          <a:prstGeom prst="rect">
            <a:avLst/>
          </a:prstGeom>
          <a:solidFill>
            <a:srgbClr val="F7F9FC"/>
          </a:solidFill>
          <a:ln>
            <a:solidFill>
              <a:srgbClr val="EEEEEE"/>
            </a:solidFill>
          </a:ln>
        </p:spPr>
        <p:txBody>
          <a:bodyPr lIns="45719" rIns="45719"/>
          <a:lstStyle/>
          <a:p>
            <a:pPr/>
          </a:p>
        </p:txBody>
      </p:sp>
      <p:sp>
        <p:nvSpPr>
          <p:cNvPr id="70" name="Text 7"/>
          <p:cNvSpPr txBox="1"/>
          <p:nvPr/>
        </p:nvSpPr>
        <p:spPr>
          <a:xfrm>
            <a:off x="7040879" y="3099606"/>
            <a:ext cx="173736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B03A2E"/>
                </a:solidFill>
              </a:defRPr>
            </a:pPr>
            <a:r>
              <a:t>HS2 chapters</a:t>
            </a:r>
          </a:p>
          <a:p>
            <a:pPr algn="ctr">
              <a:defRPr b="1" sz="1000">
                <a:solidFill>
                  <a:srgbClr val="B03A2E"/>
                </a:solidFill>
              </a:defRPr>
            </a:pPr>
            <a:r>
              <a:t>(n=97)</a:t>
            </a:r>
          </a:p>
        </p:txBody>
      </p:sp>
      <p:sp>
        <p:nvSpPr>
          <p:cNvPr id="71" name="Text 8"/>
          <p:cNvSpPr txBox="1"/>
          <p:nvPr/>
        </p:nvSpPr>
        <p:spPr>
          <a:xfrm>
            <a:off x="7040879" y="3470192"/>
            <a:ext cx="17373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66666"/>
                </a:solidFill>
              </a:defRPr>
            </a:lvl1pPr>
          </a:lstStyle>
          <a:p>
            <a:pPr/>
            <a:r>
              <a:t>signal invisible</a:t>
            </a:r>
          </a:p>
        </p:txBody>
      </p:sp>
      <p:sp>
        <p:nvSpPr>
          <p:cNvPr id="72" name="Shape 9"/>
          <p:cNvSpPr/>
          <p:nvPr/>
        </p:nvSpPr>
        <p:spPr>
          <a:xfrm>
            <a:off x="7178040" y="3730752"/>
            <a:ext cx="1463041" cy="1"/>
          </a:xfrm>
          <a:prstGeom prst="line">
            <a:avLst/>
          </a:prstGeom>
          <a:ln w="6350">
            <a:solidFill>
              <a:srgbClr val="EEEEEE"/>
            </a:solidFill>
          </a:ln>
        </p:spPr>
        <p:txBody>
          <a:bodyPr lIns="45719" rIns="45719"/>
          <a:lstStyle/>
          <a:p>
            <a:pPr/>
          </a:p>
        </p:txBody>
      </p:sp>
      <p:sp>
        <p:nvSpPr>
          <p:cNvPr id="73" name="Text 10"/>
          <p:cNvSpPr txBox="1"/>
          <p:nvPr/>
        </p:nvSpPr>
        <p:spPr>
          <a:xfrm>
            <a:off x="7040879" y="3785406"/>
            <a:ext cx="173736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000">
                <a:solidFill>
                  <a:srgbClr val="4A6FA5"/>
                </a:solidFill>
              </a:defRPr>
            </a:pPr>
            <a:r>
              <a:t>HS6 products</a:t>
            </a:r>
          </a:p>
          <a:p>
            <a:pPr algn="ctr">
              <a:defRPr b="1" sz="1000">
                <a:solidFill>
                  <a:srgbClr val="4A6FA5"/>
                </a:solidFill>
              </a:defRPr>
            </a:pPr>
            <a:r>
              <a:t>(n=3,201)</a:t>
            </a:r>
          </a:p>
        </p:txBody>
      </p:sp>
      <p:sp>
        <p:nvSpPr>
          <p:cNvPr id="74" name="Text 11"/>
          <p:cNvSpPr txBox="1"/>
          <p:nvPr/>
        </p:nvSpPr>
        <p:spPr>
          <a:xfrm>
            <a:off x="7040879" y="4174280"/>
            <a:ext cx="17373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66666"/>
                </a:solidFill>
              </a:defRPr>
            </a:lvl1pPr>
          </a:lstStyle>
          <a:p>
            <a:pPr/>
            <a:r>
              <a:t>signal strong</a:t>
            </a:r>
          </a:p>
        </p:txBody>
      </p:sp>
      <p:sp>
        <p:nvSpPr>
          <p:cNvPr id="75" name="Shape 12"/>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76" name="Shape 13"/>
          <p:cNvSpPr/>
          <p:nvPr/>
        </p:nvSpPr>
        <p:spPr>
          <a:xfrm>
            <a:off x="0" y="4617720"/>
            <a:ext cx="9144000" cy="1"/>
          </a:xfrm>
          <a:prstGeom prst="line">
            <a:avLst/>
          </a:prstGeom>
          <a:ln w="12700">
            <a:solidFill>
              <a:srgbClr val="4A6FA5"/>
            </a:solidFill>
          </a:ln>
        </p:spPr>
        <p:txBody>
          <a:bodyPr lIns="45719" rIns="45719"/>
          <a:lstStyle/>
          <a:p>
            <a:pPr/>
          </a:p>
        </p:txBody>
      </p:sp>
      <p:sp>
        <p:nvSpPr>
          <p:cNvPr id="77" name="Text 14"/>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Much of the signal is lost when products are aggregated into broad chapters.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82" name="Shape 1"/>
          <p:cNvSpPr/>
          <p:nvPr/>
        </p:nvSpPr>
        <p:spPr>
          <a:xfrm>
            <a:off x="365760" y="201168"/>
            <a:ext cx="1920240" cy="246889"/>
          </a:xfrm>
          <a:prstGeom prst="rect">
            <a:avLst/>
          </a:prstGeom>
          <a:solidFill>
            <a:srgbClr val="E8EEF4"/>
          </a:solidFill>
          <a:ln>
            <a:solidFill>
              <a:srgbClr val="4A6FA5"/>
            </a:solidFill>
          </a:ln>
        </p:spPr>
        <p:txBody>
          <a:bodyPr lIns="45719" rIns="45719"/>
          <a:lstStyle/>
          <a:p>
            <a:pPr/>
          </a:p>
        </p:txBody>
      </p:sp>
      <p:sp>
        <p:nvSpPr>
          <p:cNvPr id="83" name="Text 2"/>
          <p:cNvSpPr txBox="1"/>
          <p:nvPr/>
        </p:nvSpPr>
        <p:spPr>
          <a:xfrm>
            <a:off x="365760" y="261111"/>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TRUMP 1 · 2019</a:t>
            </a:r>
          </a:p>
        </p:txBody>
      </p:sp>
      <p:sp>
        <p:nvSpPr>
          <p:cNvPr id="84"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Was there really a tariff effect?</a:t>
            </a:r>
          </a:p>
        </p:txBody>
      </p:sp>
      <p:pic>
        <p:nvPicPr>
          <p:cNvPr id="85" name="Image 0" descr="Image 0"/>
          <p:cNvPicPr>
            <a:picLocks noChangeAspect="1"/>
          </p:cNvPicPr>
          <p:nvPr/>
        </p:nvPicPr>
        <p:blipFill>
          <a:blip r:embed="rId3">
            <a:extLst/>
          </a:blip>
          <a:stretch>
            <a:fillRect/>
          </a:stretch>
        </p:blipFill>
        <p:spPr>
          <a:xfrm>
            <a:off x="274320" y="1115567"/>
            <a:ext cx="5943601" cy="3429001"/>
          </a:xfrm>
          <a:prstGeom prst="rect">
            <a:avLst/>
          </a:prstGeom>
          <a:ln w="12700">
            <a:miter lim="400000"/>
          </a:ln>
        </p:spPr>
      </p:pic>
      <p:sp>
        <p:nvSpPr>
          <p:cNvPr id="86" name="Shape 4"/>
          <p:cNvSpPr/>
          <p:nvPr/>
        </p:nvSpPr>
        <p:spPr>
          <a:xfrm>
            <a:off x="6400800" y="1115567"/>
            <a:ext cx="2377440" cy="1463042"/>
          </a:xfrm>
          <a:prstGeom prst="rect">
            <a:avLst/>
          </a:prstGeom>
          <a:solidFill>
            <a:srgbClr val="E8EEF4"/>
          </a:solidFill>
          <a:ln w="12700">
            <a:solidFill>
              <a:srgbClr val="4A6FA5"/>
            </a:solidFill>
          </a:ln>
        </p:spPr>
        <p:txBody>
          <a:bodyPr lIns="45719" rIns="45719"/>
          <a:lstStyle/>
          <a:p>
            <a:pPr/>
          </a:p>
        </p:txBody>
      </p:sp>
      <p:sp>
        <p:nvSpPr>
          <p:cNvPr id="87" name="Text 5"/>
          <p:cNvSpPr txBox="1"/>
          <p:nvPr/>
        </p:nvSpPr>
        <p:spPr>
          <a:xfrm>
            <a:off x="6446520" y="1326504"/>
            <a:ext cx="2286001" cy="4376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600">
                <a:solidFill>
                  <a:srgbClr val="1E2761"/>
                </a:solidFill>
              </a:defRPr>
            </a:lvl1pPr>
          </a:lstStyle>
          <a:p>
            <a:pPr/>
            <a:r>
              <a:t>t = −16.4</a:t>
            </a:r>
          </a:p>
        </p:txBody>
      </p:sp>
      <p:sp>
        <p:nvSpPr>
          <p:cNvPr id="88" name="Text 6"/>
          <p:cNvSpPr txBox="1"/>
          <p:nvPr/>
        </p:nvSpPr>
        <p:spPr>
          <a:xfrm>
            <a:off x="6446520" y="1988619"/>
            <a:ext cx="2286001" cy="4210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20000"/>
              </a:lnSpc>
              <a:defRPr sz="1000">
                <a:solidFill>
                  <a:srgbClr val="2C3E6B"/>
                </a:solidFill>
              </a:defRPr>
            </a:pPr>
            <a:r>
              <a:t>Strongest signal</a:t>
            </a:r>
          </a:p>
          <a:p>
            <a:pPr algn="ctr">
              <a:lnSpc>
                <a:spcPct val="120000"/>
              </a:lnSpc>
              <a:defRPr sz="1000">
                <a:solidFill>
                  <a:srgbClr val="2C3E6B"/>
                </a:solidFill>
              </a:defRPr>
            </a:pPr>
            <a:r>
              <a:t>in the study</a:t>
            </a:r>
          </a:p>
        </p:txBody>
      </p:sp>
      <p:sp>
        <p:nvSpPr>
          <p:cNvPr id="89" name="Shape 7"/>
          <p:cNvSpPr/>
          <p:nvPr/>
        </p:nvSpPr>
        <p:spPr>
          <a:xfrm>
            <a:off x="6400800" y="2743200"/>
            <a:ext cx="2377440" cy="1801368"/>
          </a:xfrm>
          <a:prstGeom prst="rect">
            <a:avLst/>
          </a:prstGeom>
          <a:solidFill>
            <a:srgbClr val="F7F9FC"/>
          </a:solidFill>
          <a:ln>
            <a:solidFill>
              <a:srgbClr val="EEEEEE"/>
            </a:solidFill>
          </a:ln>
        </p:spPr>
        <p:txBody>
          <a:bodyPr lIns="45719" rIns="45719"/>
          <a:lstStyle/>
          <a:p>
            <a:pPr/>
          </a:p>
        </p:txBody>
      </p:sp>
      <p:sp>
        <p:nvSpPr>
          <p:cNvPr id="90" name="Text 8"/>
          <p:cNvSpPr txBox="1"/>
          <p:nvPr/>
        </p:nvSpPr>
        <p:spPr>
          <a:xfrm>
            <a:off x="6446520" y="2897720"/>
            <a:ext cx="2286001" cy="34018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1E2761"/>
                </a:solidFill>
              </a:defRPr>
            </a:lvl1pPr>
          </a:lstStyle>
          <a:p>
            <a:pPr/>
            <a:r>
              <a:t>64pp spread</a:t>
            </a:r>
          </a:p>
        </p:txBody>
      </p:sp>
      <p:sp>
        <p:nvSpPr>
          <p:cNvPr id="91" name="Shape 9"/>
          <p:cNvSpPr/>
          <p:nvPr/>
        </p:nvSpPr>
        <p:spPr>
          <a:xfrm>
            <a:off x="6537959" y="3364991"/>
            <a:ext cx="2103121" cy="1"/>
          </a:xfrm>
          <a:prstGeom prst="line">
            <a:avLst/>
          </a:prstGeom>
          <a:ln w="6350">
            <a:solidFill>
              <a:srgbClr val="EEEEEE"/>
            </a:solidFill>
          </a:ln>
        </p:spPr>
        <p:txBody>
          <a:bodyPr lIns="45719" rIns="45719"/>
          <a:lstStyle/>
          <a:p>
            <a:pPr/>
          </a:p>
        </p:txBody>
      </p:sp>
      <p:sp>
        <p:nvSpPr>
          <p:cNvPr id="92" name="Text 10"/>
          <p:cNvSpPr txBox="1"/>
          <p:nvPr/>
        </p:nvSpPr>
        <p:spPr>
          <a:xfrm>
            <a:off x="6492240" y="3442760"/>
            <a:ext cx="21945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4A6FA5"/>
                </a:solidFill>
              </a:defRPr>
            </a:lvl1pPr>
          </a:lstStyle>
          <a:p>
            <a:pPr/>
            <a:r>
              <a:t>+18%  untariffed</a:t>
            </a:r>
          </a:p>
        </p:txBody>
      </p:sp>
      <p:sp>
        <p:nvSpPr>
          <p:cNvPr id="93" name="Text 11"/>
          <p:cNvSpPr txBox="1"/>
          <p:nvPr/>
        </p:nvSpPr>
        <p:spPr>
          <a:xfrm>
            <a:off x="6492240" y="3717080"/>
            <a:ext cx="21945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B03A2E"/>
                </a:solidFill>
              </a:defRPr>
            </a:lvl1pPr>
          </a:lstStyle>
          <a:p>
            <a:pPr/>
            <a:r>
              <a:t>−46%  highest tariff</a:t>
            </a:r>
          </a:p>
        </p:txBody>
      </p:sp>
      <p:sp>
        <p:nvSpPr>
          <p:cNvPr id="94" name="Text 12"/>
          <p:cNvSpPr txBox="1"/>
          <p:nvPr/>
        </p:nvSpPr>
        <p:spPr>
          <a:xfrm>
            <a:off x="6492240" y="4103282"/>
            <a:ext cx="219456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666666"/>
                </a:solidFill>
              </a:defRPr>
            </a:lvl1pPr>
          </a:lstStyle>
          <a:p>
            <a:pPr/>
            <a:r>
              <a:t>across tariff distribution</a:t>
            </a:r>
          </a:p>
        </p:txBody>
      </p:sp>
      <p:sp>
        <p:nvSpPr>
          <p:cNvPr id="95" name="Shape 13"/>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96" name="Shape 14"/>
          <p:cNvSpPr/>
          <p:nvPr/>
        </p:nvSpPr>
        <p:spPr>
          <a:xfrm>
            <a:off x="0" y="4617720"/>
            <a:ext cx="9144000" cy="1"/>
          </a:xfrm>
          <a:prstGeom prst="line">
            <a:avLst/>
          </a:prstGeom>
          <a:ln w="12700">
            <a:solidFill>
              <a:srgbClr val="4A6FA5"/>
            </a:solidFill>
          </a:ln>
        </p:spPr>
        <p:txBody>
          <a:bodyPr lIns="45719" rIns="45719"/>
          <a:lstStyle/>
          <a:p>
            <a:pPr/>
          </a:p>
        </p:txBody>
      </p:sp>
      <p:sp>
        <p:nvSpPr>
          <p:cNvPr id="97" name="Text 15"/>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Yes. At the product level, the 2019 relationship is unmistakable.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0"/>
          <p:cNvSpPr/>
          <p:nvPr/>
        </p:nvSpPr>
        <p:spPr>
          <a:xfrm>
            <a:off x="0" y="0"/>
            <a:ext cx="9144000" cy="5143500"/>
          </a:xfrm>
          <a:prstGeom prst="rect">
            <a:avLst/>
          </a:prstGeom>
          <a:solidFill>
            <a:srgbClr val="F7F9FC"/>
          </a:solidFill>
          <a:ln w="12700">
            <a:miter lim="400000"/>
          </a:ln>
        </p:spPr>
        <p:txBody>
          <a:bodyPr lIns="45719" rIns="45719"/>
          <a:lstStyle/>
          <a:p>
            <a:pPr/>
          </a:p>
        </p:txBody>
      </p:sp>
      <p:sp>
        <p:nvSpPr>
          <p:cNvPr id="102" name="Shape 1"/>
          <p:cNvSpPr/>
          <p:nvPr/>
        </p:nvSpPr>
        <p:spPr>
          <a:xfrm>
            <a:off x="365760" y="201168"/>
            <a:ext cx="2377440" cy="246889"/>
          </a:xfrm>
          <a:prstGeom prst="rect">
            <a:avLst/>
          </a:prstGeom>
          <a:solidFill>
            <a:srgbClr val="E8EEF4"/>
          </a:solidFill>
          <a:ln>
            <a:solidFill>
              <a:srgbClr val="4A6FA5"/>
            </a:solidFill>
          </a:ln>
        </p:spPr>
        <p:txBody>
          <a:bodyPr lIns="45719" rIns="45719"/>
          <a:lstStyle/>
          <a:p>
            <a:pPr/>
          </a:p>
        </p:txBody>
      </p:sp>
      <p:sp>
        <p:nvSpPr>
          <p:cNvPr id="103" name="Text 2"/>
          <p:cNvSpPr txBox="1"/>
          <p:nvPr/>
        </p:nvSpPr>
        <p:spPr>
          <a:xfrm>
            <a:off x="365760" y="261111"/>
            <a:ext cx="23774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PREDICTIVE VALIDATION</a:t>
            </a:r>
          </a:p>
        </p:txBody>
      </p:sp>
      <p:sp>
        <p:nvSpPr>
          <p:cNvPr id="104"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Could the effect predict the future?</a:t>
            </a:r>
          </a:p>
        </p:txBody>
      </p:sp>
      <p:pic>
        <p:nvPicPr>
          <p:cNvPr id="105" name="Image 0" descr="Image 0"/>
          <p:cNvPicPr>
            <a:picLocks noChangeAspect="1"/>
          </p:cNvPicPr>
          <p:nvPr/>
        </p:nvPicPr>
        <p:blipFill>
          <a:blip r:embed="rId3">
            <a:extLst/>
          </a:blip>
          <a:stretch>
            <a:fillRect/>
          </a:stretch>
        </p:blipFill>
        <p:spPr>
          <a:xfrm>
            <a:off x="274320" y="1115567"/>
            <a:ext cx="6400801" cy="3429001"/>
          </a:xfrm>
          <a:prstGeom prst="rect">
            <a:avLst/>
          </a:prstGeom>
          <a:ln w="12700">
            <a:miter lim="400000"/>
          </a:ln>
        </p:spPr>
      </p:pic>
      <p:sp>
        <p:nvSpPr>
          <p:cNvPr id="106" name="Shape 4"/>
          <p:cNvSpPr/>
          <p:nvPr/>
        </p:nvSpPr>
        <p:spPr>
          <a:xfrm>
            <a:off x="6812280" y="1188719"/>
            <a:ext cx="2011680" cy="1051562"/>
          </a:xfrm>
          <a:prstGeom prst="rect">
            <a:avLst/>
          </a:prstGeom>
          <a:solidFill>
            <a:srgbClr val="FFFFFF"/>
          </a:solidFill>
          <a:ln w="19050">
            <a:solidFill>
              <a:srgbClr val="1E2761"/>
            </a:solidFill>
          </a:ln>
        </p:spPr>
        <p:txBody>
          <a:bodyPr lIns="45719" rIns="45719"/>
          <a:lstStyle/>
          <a:p>
            <a:pPr/>
          </a:p>
        </p:txBody>
      </p:sp>
      <p:sp>
        <p:nvSpPr>
          <p:cNvPr id="107" name="Text 5"/>
          <p:cNvSpPr txBox="1"/>
          <p:nvPr/>
        </p:nvSpPr>
        <p:spPr>
          <a:xfrm>
            <a:off x="6858000" y="1255927"/>
            <a:ext cx="1920239" cy="54224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400">
                <a:solidFill>
                  <a:srgbClr val="1E2761"/>
                </a:solidFill>
              </a:defRPr>
            </a:lvl1pPr>
          </a:lstStyle>
          <a:p>
            <a:pPr/>
            <a:r>
              <a:t>−84%</a:t>
            </a:r>
          </a:p>
        </p:txBody>
      </p:sp>
      <p:sp>
        <p:nvSpPr>
          <p:cNvPr id="108" name="Text 6"/>
          <p:cNvSpPr txBox="1"/>
          <p:nvPr/>
        </p:nvSpPr>
        <p:spPr>
          <a:xfrm>
            <a:off x="6858000" y="1814861"/>
            <a:ext cx="1920239" cy="3570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10000"/>
              </a:lnSpc>
              <a:defRPr sz="900">
                <a:solidFill>
                  <a:srgbClr val="333333"/>
                </a:solidFill>
              </a:defRPr>
            </a:pPr>
            <a:r>
              <a:t>model predicted</a:t>
            </a:r>
          </a:p>
          <a:p>
            <a:pPr algn="ctr">
              <a:lnSpc>
                <a:spcPct val="110000"/>
              </a:lnSpc>
              <a:defRPr sz="900">
                <a:solidFill>
                  <a:srgbClr val="333333"/>
                </a:solidFill>
              </a:defRPr>
            </a:pPr>
            <a:r>
              <a:t>&gt;50% tariff products</a:t>
            </a:r>
          </a:p>
        </p:txBody>
      </p:sp>
      <p:sp>
        <p:nvSpPr>
          <p:cNvPr id="109" name="Shape 7"/>
          <p:cNvSpPr/>
          <p:nvPr/>
        </p:nvSpPr>
        <p:spPr>
          <a:xfrm>
            <a:off x="6812280" y="2350007"/>
            <a:ext cx="2011680" cy="1051561"/>
          </a:xfrm>
          <a:prstGeom prst="rect">
            <a:avLst/>
          </a:prstGeom>
          <a:solidFill>
            <a:srgbClr val="FFFFFF"/>
          </a:solidFill>
          <a:ln w="19050">
            <a:solidFill>
              <a:srgbClr val="B03A2E"/>
            </a:solidFill>
          </a:ln>
        </p:spPr>
        <p:txBody>
          <a:bodyPr lIns="45719" rIns="45719"/>
          <a:lstStyle/>
          <a:p>
            <a:pPr/>
          </a:p>
        </p:txBody>
      </p:sp>
      <p:sp>
        <p:nvSpPr>
          <p:cNvPr id="110" name="Text 8"/>
          <p:cNvSpPr txBox="1"/>
          <p:nvPr/>
        </p:nvSpPr>
        <p:spPr>
          <a:xfrm>
            <a:off x="6858000" y="2417215"/>
            <a:ext cx="1920239" cy="54224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400">
                <a:solidFill>
                  <a:srgbClr val="B03A2E"/>
                </a:solidFill>
              </a:defRPr>
            </a:lvl1pPr>
          </a:lstStyle>
          <a:p>
            <a:pPr/>
            <a:r>
              <a:t>−26%</a:t>
            </a:r>
          </a:p>
        </p:txBody>
      </p:sp>
      <p:sp>
        <p:nvSpPr>
          <p:cNvPr id="111" name="Text 9"/>
          <p:cNvSpPr txBox="1"/>
          <p:nvPr/>
        </p:nvSpPr>
        <p:spPr>
          <a:xfrm>
            <a:off x="6858000" y="2976149"/>
            <a:ext cx="1920239" cy="3570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10000"/>
              </a:lnSpc>
              <a:defRPr sz="900">
                <a:solidFill>
                  <a:srgbClr val="333333"/>
                </a:solidFill>
              </a:defRPr>
            </a:pPr>
            <a:r>
              <a:t>actual decline</a:t>
            </a:r>
          </a:p>
          <a:p>
            <a:pPr algn="ctr">
              <a:lnSpc>
                <a:spcPct val="110000"/>
              </a:lnSpc>
              <a:defRPr sz="900">
                <a:solidFill>
                  <a:srgbClr val="333333"/>
                </a:solidFill>
              </a:defRPr>
            </a:pPr>
            <a:r>
              <a:t>(same products)</a:t>
            </a:r>
          </a:p>
        </p:txBody>
      </p:sp>
      <p:sp>
        <p:nvSpPr>
          <p:cNvPr id="112" name="Shape 10"/>
          <p:cNvSpPr/>
          <p:nvPr/>
        </p:nvSpPr>
        <p:spPr>
          <a:xfrm>
            <a:off x="6812280" y="3511296"/>
            <a:ext cx="2011680" cy="1051561"/>
          </a:xfrm>
          <a:prstGeom prst="rect">
            <a:avLst/>
          </a:prstGeom>
          <a:solidFill>
            <a:srgbClr val="FFFFFF"/>
          </a:solidFill>
          <a:ln w="19050">
            <a:solidFill>
              <a:srgbClr val="4A6FA5"/>
            </a:solidFill>
          </a:ln>
        </p:spPr>
        <p:txBody>
          <a:bodyPr lIns="45719" rIns="45719"/>
          <a:lstStyle/>
          <a:p>
            <a:pPr/>
          </a:p>
        </p:txBody>
      </p:sp>
      <p:sp>
        <p:nvSpPr>
          <p:cNvPr id="113" name="Text 11"/>
          <p:cNvSpPr txBox="1"/>
          <p:nvPr/>
        </p:nvSpPr>
        <p:spPr>
          <a:xfrm>
            <a:off x="6858000" y="3578503"/>
            <a:ext cx="1920239" cy="54224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400">
                <a:solidFill>
                  <a:srgbClr val="4A6FA5"/>
                </a:solidFill>
              </a:defRPr>
            </a:lvl1pPr>
          </a:lstStyle>
          <a:p>
            <a:pPr/>
            <a:r>
              <a:t>+58pp</a:t>
            </a:r>
          </a:p>
        </p:txBody>
      </p:sp>
      <p:sp>
        <p:nvSpPr>
          <p:cNvPr id="114" name="Text 12"/>
          <p:cNvSpPr txBox="1"/>
          <p:nvPr/>
        </p:nvSpPr>
        <p:spPr>
          <a:xfrm>
            <a:off x="6858000" y="4137437"/>
            <a:ext cx="1920239" cy="3570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10000"/>
              </a:lnSpc>
              <a:defRPr sz="900">
                <a:solidFill>
                  <a:srgbClr val="333333"/>
                </a:solidFill>
              </a:defRPr>
            </a:pPr>
            <a:r>
              <a:t>prediction gap</a:t>
            </a:r>
          </a:p>
          <a:p>
            <a:pPr algn="ctr">
              <a:lnSpc>
                <a:spcPct val="110000"/>
              </a:lnSpc>
              <a:defRPr sz="900">
                <a:solidFill>
                  <a:srgbClr val="333333"/>
                </a:solidFill>
              </a:defRPr>
            </a:pPr>
            <a:r>
              <a:t>= adaptation</a:t>
            </a:r>
          </a:p>
        </p:txBody>
      </p:sp>
      <p:sp>
        <p:nvSpPr>
          <p:cNvPr id="115" name="Shape 13"/>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116" name="Shape 14"/>
          <p:cNvSpPr/>
          <p:nvPr/>
        </p:nvSpPr>
        <p:spPr>
          <a:xfrm>
            <a:off x="0" y="4617720"/>
            <a:ext cx="9144000" cy="1"/>
          </a:xfrm>
          <a:prstGeom prst="line">
            <a:avLst/>
          </a:prstGeom>
          <a:ln w="12700">
            <a:solidFill>
              <a:srgbClr val="4A6FA5"/>
            </a:solidFill>
          </a:ln>
        </p:spPr>
        <p:txBody>
          <a:bodyPr lIns="45719" rIns="45719"/>
          <a:lstStyle/>
          <a:p>
            <a:pPr/>
          </a:p>
        </p:txBody>
      </p:sp>
      <p:sp>
        <p:nvSpPr>
          <p:cNvPr id="117" name="Text 15"/>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The model learned Trump 1. The world changed. The model broke.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122" name="Shape 1"/>
          <p:cNvSpPr/>
          <p:nvPr/>
        </p:nvSpPr>
        <p:spPr>
          <a:xfrm>
            <a:off x="365759" y="201168"/>
            <a:ext cx="2194562" cy="246889"/>
          </a:xfrm>
          <a:prstGeom prst="rect">
            <a:avLst/>
          </a:prstGeom>
          <a:solidFill>
            <a:srgbClr val="E8EEF4"/>
          </a:solidFill>
          <a:ln>
            <a:solidFill>
              <a:srgbClr val="4A6FA5"/>
            </a:solidFill>
          </a:ln>
        </p:spPr>
        <p:txBody>
          <a:bodyPr lIns="45719" rIns="45719"/>
          <a:lstStyle/>
          <a:p>
            <a:pPr/>
          </a:p>
        </p:txBody>
      </p:sp>
      <p:sp>
        <p:nvSpPr>
          <p:cNvPr id="123" name="Text 2"/>
          <p:cNvSpPr txBox="1"/>
          <p:nvPr/>
        </p:nvSpPr>
        <p:spPr>
          <a:xfrm>
            <a:off x="365759" y="261111"/>
            <a:ext cx="21945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EXPLANATION · PART 1</a:t>
            </a:r>
          </a:p>
        </p:txBody>
      </p:sp>
      <p:sp>
        <p:nvSpPr>
          <p:cNvPr id="124"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Why did prediction fail?</a:t>
            </a:r>
          </a:p>
        </p:txBody>
      </p:sp>
      <p:pic>
        <p:nvPicPr>
          <p:cNvPr id="125" name="Image 0" descr="Image 0"/>
          <p:cNvPicPr>
            <a:picLocks noChangeAspect="1"/>
          </p:cNvPicPr>
          <p:nvPr/>
        </p:nvPicPr>
        <p:blipFill>
          <a:blip r:embed="rId3">
            <a:extLst/>
          </a:blip>
          <a:stretch>
            <a:fillRect/>
          </a:stretch>
        </p:blipFill>
        <p:spPr>
          <a:xfrm>
            <a:off x="274320" y="1115567"/>
            <a:ext cx="8595360" cy="3429001"/>
          </a:xfrm>
          <a:prstGeom prst="rect">
            <a:avLst/>
          </a:prstGeom>
          <a:ln w="12700">
            <a:miter lim="400000"/>
          </a:ln>
        </p:spPr>
      </p:pic>
      <p:sp>
        <p:nvSpPr>
          <p:cNvPr id="126" name="Shape 4"/>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127" name="Shape 5"/>
          <p:cNvSpPr/>
          <p:nvPr/>
        </p:nvSpPr>
        <p:spPr>
          <a:xfrm>
            <a:off x="0" y="4617720"/>
            <a:ext cx="9144000" cy="1"/>
          </a:xfrm>
          <a:prstGeom prst="line">
            <a:avLst/>
          </a:prstGeom>
          <a:ln w="12700">
            <a:solidFill>
              <a:srgbClr val="4A6FA5"/>
            </a:solidFill>
          </a:ln>
        </p:spPr>
        <p:txBody>
          <a:bodyPr lIns="45719" rIns="45719"/>
          <a:lstStyle/>
          <a:p>
            <a:pPr/>
          </a:p>
        </p:txBody>
      </p:sp>
      <p:sp>
        <p:nvSpPr>
          <p:cNvPr id="128" name="Text 6"/>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The simplest explanation is that the underlying relationship changed.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133" name="Shape 1"/>
          <p:cNvSpPr/>
          <p:nvPr/>
        </p:nvSpPr>
        <p:spPr>
          <a:xfrm>
            <a:off x="365759" y="201168"/>
            <a:ext cx="2194562" cy="246889"/>
          </a:xfrm>
          <a:prstGeom prst="rect">
            <a:avLst/>
          </a:prstGeom>
          <a:solidFill>
            <a:srgbClr val="E8EEF4"/>
          </a:solidFill>
          <a:ln>
            <a:solidFill>
              <a:srgbClr val="4A6FA5"/>
            </a:solidFill>
          </a:ln>
        </p:spPr>
        <p:txBody>
          <a:bodyPr lIns="45719" rIns="45719"/>
          <a:lstStyle/>
          <a:p>
            <a:pPr/>
          </a:p>
        </p:txBody>
      </p:sp>
      <p:sp>
        <p:nvSpPr>
          <p:cNvPr id="134" name="Text 2"/>
          <p:cNvSpPr txBox="1"/>
          <p:nvPr/>
        </p:nvSpPr>
        <p:spPr>
          <a:xfrm>
            <a:off x="365759" y="261111"/>
            <a:ext cx="21945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EXPLANATION · PART 2</a:t>
            </a:r>
          </a:p>
        </p:txBody>
      </p:sp>
      <p:sp>
        <p:nvSpPr>
          <p:cNvPr id="135" name="Text 3"/>
          <p:cNvSpPr txBox="1"/>
          <p:nvPr/>
        </p:nvSpPr>
        <p:spPr>
          <a:xfrm>
            <a:off x="218439" y="526849"/>
            <a:ext cx="2884370" cy="39247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What changed?</a:t>
            </a:r>
          </a:p>
        </p:txBody>
      </p:sp>
      <p:sp>
        <p:nvSpPr>
          <p:cNvPr id="136" name="Shape 4"/>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137" name="Shape 5"/>
          <p:cNvSpPr/>
          <p:nvPr/>
        </p:nvSpPr>
        <p:spPr>
          <a:xfrm>
            <a:off x="0" y="4617720"/>
            <a:ext cx="9144000" cy="1"/>
          </a:xfrm>
          <a:prstGeom prst="line">
            <a:avLst/>
          </a:prstGeom>
          <a:ln w="12700">
            <a:solidFill>
              <a:srgbClr val="4A6FA5"/>
            </a:solidFill>
          </a:ln>
        </p:spPr>
        <p:txBody>
          <a:bodyPr lIns="45719" rIns="45719"/>
          <a:lstStyle/>
          <a:p>
            <a:pPr/>
          </a:p>
        </p:txBody>
      </p:sp>
      <p:sp>
        <p:nvSpPr>
          <p:cNvPr id="138" name="Text 6"/>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No model. No p-values. The dose-response simply vanished.</a:t>
            </a:r>
          </a:p>
        </p:txBody>
      </p:sp>
      <p:pic>
        <p:nvPicPr>
          <p:cNvPr id="139" name="figA5_bucket_comparison.png" descr="figA5_bucket_comparison.png"/>
          <p:cNvPicPr>
            <a:picLocks noChangeAspect="1"/>
          </p:cNvPicPr>
          <p:nvPr/>
        </p:nvPicPr>
        <p:blipFill>
          <a:blip r:embed="rId3">
            <a:extLst/>
          </a:blip>
          <a:stretch>
            <a:fillRect/>
          </a:stretch>
        </p:blipFill>
        <p:spPr>
          <a:xfrm>
            <a:off x="2414322" y="526849"/>
            <a:ext cx="6688227" cy="395213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144" name="Shape 1"/>
          <p:cNvSpPr/>
          <p:nvPr/>
        </p:nvSpPr>
        <p:spPr>
          <a:xfrm>
            <a:off x="365760" y="201168"/>
            <a:ext cx="1920240" cy="246889"/>
          </a:xfrm>
          <a:prstGeom prst="rect">
            <a:avLst/>
          </a:prstGeom>
          <a:solidFill>
            <a:srgbClr val="E8EEF4"/>
          </a:solidFill>
          <a:ln>
            <a:solidFill>
              <a:srgbClr val="4A6FA5"/>
            </a:solidFill>
          </a:ln>
        </p:spPr>
        <p:txBody>
          <a:bodyPr lIns="45719" rIns="45719"/>
          <a:lstStyle/>
          <a:p>
            <a:pPr/>
          </a:p>
        </p:txBody>
      </p:sp>
      <p:sp>
        <p:nvSpPr>
          <p:cNvPr id="145" name="Text 2"/>
          <p:cNvSpPr txBox="1"/>
          <p:nvPr/>
        </p:nvSpPr>
        <p:spPr>
          <a:xfrm>
            <a:off x="365760" y="261111"/>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CLASSIFICATION</a:t>
            </a:r>
          </a:p>
        </p:txBody>
      </p:sp>
      <p:sp>
        <p:nvSpPr>
          <p:cNvPr id="146"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How predictable was disruption in 2019?</a:t>
            </a:r>
          </a:p>
        </p:txBody>
      </p:sp>
      <p:pic>
        <p:nvPicPr>
          <p:cNvPr id="147" name="Image 0" descr="Image 0"/>
          <p:cNvPicPr>
            <a:picLocks noChangeAspect="1"/>
          </p:cNvPicPr>
          <p:nvPr/>
        </p:nvPicPr>
        <p:blipFill>
          <a:blip r:embed="rId3">
            <a:extLst/>
          </a:blip>
          <a:stretch>
            <a:fillRect/>
          </a:stretch>
        </p:blipFill>
        <p:spPr>
          <a:xfrm>
            <a:off x="1097280" y="1115567"/>
            <a:ext cx="6949441" cy="3429001"/>
          </a:xfrm>
          <a:prstGeom prst="rect">
            <a:avLst/>
          </a:prstGeom>
          <a:ln w="12700">
            <a:miter lim="400000"/>
          </a:ln>
        </p:spPr>
      </p:pic>
      <p:sp>
        <p:nvSpPr>
          <p:cNvPr id="148" name="Shape 4"/>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149" name="Shape 5"/>
          <p:cNvSpPr/>
          <p:nvPr/>
        </p:nvSpPr>
        <p:spPr>
          <a:xfrm>
            <a:off x="0" y="4617720"/>
            <a:ext cx="9144000" cy="1"/>
          </a:xfrm>
          <a:prstGeom prst="line">
            <a:avLst/>
          </a:prstGeom>
          <a:ln w="12700">
            <a:solidFill>
              <a:srgbClr val="4A6FA5"/>
            </a:solidFill>
          </a:ln>
        </p:spPr>
        <p:txBody>
          <a:bodyPr lIns="45719" rIns="45719"/>
          <a:lstStyle/>
          <a:p>
            <a:pPr/>
          </a:p>
        </p:txBody>
      </p:sp>
      <p:sp>
        <p:nvSpPr>
          <p:cNvPr id="150" name="Text 6"/>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At 30% tariff — a coin flip. Useful signal, but not a precise instrument.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155" name="Shape 1"/>
          <p:cNvSpPr/>
          <p:nvPr/>
        </p:nvSpPr>
        <p:spPr>
          <a:xfrm>
            <a:off x="365760" y="201168"/>
            <a:ext cx="1920240" cy="246889"/>
          </a:xfrm>
          <a:prstGeom prst="rect">
            <a:avLst/>
          </a:prstGeom>
          <a:solidFill>
            <a:srgbClr val="E8EEF4"/>
          </a:solidFill>
          <a:ln>
            <a:solidFill>
              <a:srgbClr val="4A6FA5"/>
            </a:solidFill>
          </a:ln>
        </p:spPr>
        <p:txBody>
          <a:bodyPr lIns="45719" rIns="45719"/>
          <a:lstStyle/>
          <a:p>
            <a:pPr/>
          </a:p>
        </p:txBody>
      </p:sp>
      <p:sp>
        <p:nvSpPr>
          <p:cNvPr id="156" name="Text 2"/>
          <p:cNvSpPr txBox="1"/>
          <p:nvPr/>
        </p:nvSpPr>
        <p:spPr>
          <a:xfrm>
            <a:off x="365760" y="261111"/>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CLASSIFICATION</a:t>
            </a:r>
          </a:p>
        </p:txBody>
      </p:sp>
      <p:sp>
        <p:nvSpPr>
          <p:cNvPr id="157"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What mattered most?</a:t>
            </a:r>
          </a:p>
        </p:txBody>
      </p:sp>
      <p:pic>
        <p:nvPicPr>
          <p:cNvPr id="158" name="Image 0" descr="Image 0"/>
          <p:cNvPicPr>
            <a:picLocks noChangeAspect="1"/>
          </p:cNvPicPr>
          <p:nvPr/>
        </p:nvPicPr>
        <p:blipFill>
          <a:blip r:embed="rId3">
            <a:extLst/>
          </a:blip>
          <a:stretch>
            <a:fillRect/>
          </a:stretch>
        </p:blipFill>
        <p:spPr>
          <a:xfrm>
            <a:off x="731519" y="1115567"/>
            <a:ext cx="6217922" cy="3429001"/>
          </a:xfrm>
          <a:prstGeom prst="rect">
            <a:avLst/>
          </a:prstGeom>
          <a:ln w="12700">
            <a:miter lim="400000"/>
          </a:ln>
        </p:spPr>
      </p:pic>
      <p:sp>
        <p:nvSpPr>
          <p:cNvPr id="159" name="Shape 4"/>
          <p:cNvSpPr/>
          <p:nvPr/>
        </p:nvSpPr>
        <p:spPr>
          <a:xfrm>
            <a:off x="7132319" y="1371599"/>
            <a:ext cx="1691641" cy="2468882"/>
          </a:xfrm>
          <a:prstGeom prst="rect">
            <a:avLst/>
          </a:prstGeom>
          <a:solidFill>
            <a:srgbClr val="F7F9FC"/>
          </a:solidFill>
          <a:ln>
            <a:solidFill>
              <a:srgbClr val="EEEEEE"/>
            </a:solidFill>
          </a:ln>
        </p:spPr>
        <p:txBody>
          <a:bodyPr lIns="45719" rIns="45719"/>
          <a:lstStyle/>
          <a:p>
            <a:pPr/>
          </a:p>
        </p:txBody>
      </p:sp>
      <p:sp>
        <p:nvSpPr>
          <p:cNvPr id="160" name="Text 5"/>
          <p:cNvSpPr txBox="1"/>
          <p:nvPr/>
        </p:nvSpPr>
        <p:spPr>
          <a:xfrm>
            <a:off x="7223759" y="1488099"/>
            <a:ext cx="15087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333333"/>
                </a:solidFill>
              </a:defRPr>
            </a:lvl1pPr>
          </a:lstStyle>
          <a:p>
            <a:pPr/>
            <a:r>
              <a:t>Tariff rate</a:t>
            </a:r>
          </a:p>
        </p:txBody>
      </p:sp>
      <p:sp>
        <p:nvSpPr>
          <p:cNvPr id="161" name="Text 6"/>
          <p:cNvSpPr txBox="1"/>
          <p:nvPr/>
        </p:nvSpPr>
        <p:spPr>
          <a:xfrm>
            <a:off x="7223759" y="1744552"/>
            <a:ext cx="150876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4A6FA5"/>
                </a:solidFill>
              </a:defRPr>
            </a:lvl1pPr>
          </a:lstStyle>
          <a:p>
            <a:pPr/>
            <a:r>
              <a:t>yes</a:t>
            </a:r>
          </a:p>
        </p:txBody>
      </p:sp>
      <p:sp>
        <p:nvSpPr>
          <p:cNvPr id="162" name="Text 7"/>
          <p:cNvSpPr txBox="1"/>
          <p:nvPr/>
        </p:nvSpPr>
        <p:spPr>
          <a:xfrm>
            <a:off x="7223759" y="2265339"/>
            <a:ext cx="15087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333333"/>
                </a:solidFill>
              </a:defRPr>
            </a:lvl1pPr>
          </a:lstStyle>
          <a:p>
            <a:pPr/>
            <a:r>
              <a:t>Product size</a:t>
            </a:r>
          </a:p>
        </p:txBody>
      </p:sp>
      <p:sp>
        <p:nvSpPr>
          <p:cNvPr id="163" name="Text 8"/>
          <p:cNvSpPr txBox="1"/>
          <p:nvPr/>
        </p:nvSpPr>
        <p:spPr>
          <a:xfrm>
            <a:off x="7223759" y="2521792"/>
            <a:ext cx="150876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4A6FA5"/>
                </a:solidFill>
              </a:defRPr>
            </a:lvl1pPr>
          </a:lstStyle>
          <a:p>
            <a:pPr/>
            <a:r>
              <a:t>yes</a:t>
            </a:r>
          </a:p>
        </p:txBody>
      </p:sp>
      <p:sp>
        <p:nvSpPr>
          <p:cNvPr id="164" name="Text 9"/>
          <p:cNvSpPr txBox="1"/>
          <p:nvPr/>
        </p:nvSpPr>
        <p:spPr>
          <a:xfrm>
            <a:off x="7223759" y="3042579"/>
            <a:ext cx="15087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333333"/>
                </a:solidFill>
              </a:defRPr>
            </a:lvl1pPr>
          </a:lstStyle>
          <a:p>
            <a:pPr/>
            <a:r>
              <a:t>Trade asymmetry</a:t>
            </a:r>
          </a:p>
        </p:txBody>
      </p:sp>
      <p:sp>
        <p:nvSpPr>
          <p:cNvPr id="165" name="Text 10"/>
          <p:cNvSpPr txBox="1"/>
          <p:nvPr/>
        </p:nvSpPr>
        <p:spPr>
          <a:xfrm>
            <a:off x="7223759" y="3299032"/>
            <a:ext cx="150876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B03A2E"/>
                </a:solidFill>
              </a:defRPr>
            </a:lvl1pPr>
          </a:lstStyle>
          <a:p>
            <a:pPr/>
            <a:r>
              <a:t>no</a:t>
            </a:r>
          </a:p>
        </p:txBody>
      </p:sp>
      <p:sp>
        <p:nvSpPr>
          <p:cNvPr id="166" name="Shape 11"/>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167" name="Shape 12"/>
          <p:cNvSpPr/>
          <p:nvPr/>
        </p:nvSpPr>
        <p:spPr>
          <a:xfrm>
            <a:off x="0" y="4617720"/>
            <a:ext cx="9144000" cy="1"/>
          </a:xfrm>
          <a:prstGeom prst="line">
            <a:avLst/>
          </a:prstGeom>
          <a:ln w="12700">
            <a:solidFill>
              <a:srgbClr val="4A6FA5"/>
            </a:solidFill>
          </a:ln>
        </p:spPr>
        <p:txBody>
          <a:bodyPr lIns="45719" rIns="45719"/>
          <a:lstStyle/>
          <a:p>
            <a:pPr/>
          </a:p>
        </p:txBody>
      </p:sp>
      <p:sp>
        <p:nvSpPr>
          <p:cNvPr id="168" name="Text 13"/>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Tariff rate dominates. Larger products appear more resilient after controlling for tariff rate.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173" name="Shape 1"/>
          <p:cNvSpPr/>
          <p:nvPr/>
        </p:nvSpPr>
        <p:spPr>
          <a:xfrm>
            <a:off x="365760" y="201168"/>
            <a:ext cx="1920240" cy="246889"/>
          </a:xfrm>
          <a:prstGeom prst="rect">
            <a:avLst/>
          </a:prstGeom>
          <a:solidFill>
            <a:srgbClr val="E8EEF4"/>
          </a:solidFill>
          <a:ln>
            <a:solidFill>
              <a:srgbClr val="4A6FA5"/>
            </a:solidFill>
          </a:ln>
        </p:spPr>
        <p:txBody>
          <a:bodyPr lIns="45719" rIns="45719"/>
          <a:lstStyle/>
          <a:p>
            <a:pPr/>
          </a:p>
        </p:txBody>
      </p:sp>
      <p:sp>
        <p:nvSpPr>
          <p:cNvPr id="174" name="Text 2"/>
          <p:cNvSpPr txBox="1"/>
          <p:nvPr/>
        </p:nvSpPr>
        <p:spPr>
          <a:xfrm>
            <a:off x="365760" y="261111"/>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MODEL COMPARISON</a:t>
            </a:r>
          </a:p>
        </p:txBody>
      </p:sp>
      <p:sp>
        <p:nvSpPr>
          <p:cNvPr id="175"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Did machine learning help?</a:t>
            </a:r>
          </a:p>
        </p:txBody>
      </p:sp>
      <p:pic>
        <p:nvPicPr>
          <p:cNvPr id="176" name="Image 0" descr="Image 0"/>
          <p:cNvPicPr>
            <a:picLocks noChangeAspect="1"/>
          </p:cNvPicPr>
          <p:nvPr/>
        </p:nvPicPr>
        <p:blipFill>
          <a:blip r:embed="rId3">
            <a:extLst/>
          </a:blip>
          <a:stretch>
            <a:fillRect/>
          </a:stretch>
        </p:blipFill>
        <p:spPr>
          <a:xfrm>
            <a:off x="274320" y="1115567"/>
            <a:ext cx="6035041" cy="3429001"/>
          </a:xfrm>
          <a:prstGeom prst="rect">
            <a:avLst/>
          </a:prstGeom>
          <a:ln w="12700">
            <a:miter lim="400000"/>
          </a:ln>
        </p:spPr>
      </p:pic>
      <p:sp>
        <p:nvSpPr>
          <p:cNvPr id="177" name="Text 4"/>
          <p:cNvSpPr txBox="1"/>
          <p:nvPr/>
        </p:nvSpPr>
        <p:spPr>
          <a:xfrm>
            <a:off x="6492240" y="1410185"/>
            <a:ext cx="2240281" cy="7457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5200">
                <a:solidFill>
                  <a:srgbClr val="1E2761"/>
                </a:solidFill>
              </a:defRPr>
            </a:lvl1pPr>
          </a:lstStyle>
          <a:p>
            <a:pPr/>
            <a:r>
              <a:t>No.</a:t>
            </a:r>
          </a:p>
        </p:txBody>
      </p:sp>
      <p:sp>
        <p:nvSpPr>
          <p:cNvPr id="178" name="Shape 5"/>
          <p:cNvSpPr/>
          <p:nvPr/>
        </p:nvSpPr>
        <p:spPr>
          <a:xfrm>
            <a:off x="6446520" y="2487167"/>
            <a:ext cx="2331721" cy="685801"/>
          </a:xfrm>
          <a:prstGeom prst="rect">
            <a:avLst/>
          </a:prstGeom>
          <a:solidFill>
            <a:srgbClr val="E8EEF4"/>
          </a:solidFill>
          <a:ln>
            <a:solidFill>
              <a:srgbClr val="4A6FA5"/>
            </a:solidFill>
          </a:ln>
        </p:spPr>
        <p:txBody>
          <a:bodyPr lIns="45719" rIns="45719"/>
          <a:lstStyle/>
          <a:p>
            <a:pPr/>
          </a:p>
        </p:txBody>
      </p:sp>
      <p:sp>
        <p:nvSpPr>
          <p:cNvPr id="179" name="Text 6"/>
          <p:cNvSpPr txBox="1"/>
          <p:nvPr/>
        </p:nvSpPr>
        <p:spPr>
          <a:xfrm>
            <a:off x="6492240" y="2537504"/>
            <a:ext cx="224028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333333"/>
                </a:solidFill>
              </a:defRPr>
            </a:lvl1pPr>
          </a:lstStyle>
          <a:p>
            <a:pPr/>
            <a:r>
              <a:t>Logistic</a:t>
            </a:r>
          </a:p>
        </p:txBody>
      </p:sp>
      <p:sp>
        <p:nvSpPr>
          <p:cNvPr id="180" name="Text 7"/>
          <p:cNvSpPr txBox="1"/>
          <p:nvPr/>
        </p:nvSpPr>
        <p:spPr>
          <a:xfrm>
            <a:off x="6492240" y="2759536"/>
            <a:ext cx="224028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4A6FA5"/>
                </a:solidFill>
              </a:defRPr>
            </a:lvl1pPr>
          </a:lstStyle>
          <a:p>
            <a:pPr/>
            <a:r>
              <a:t>AUC = 0.677</a:t>
            </a:r>
          </a:p>
        </p:txBody>
      </p:sp>
      <p:sp>
        <p:nvSpPr>
          <p:cNvPr id="181" name="Shape 8"/>
          <p:cNvSpPr/>
          <p:nvPr/>
        </p:nvSpPr>
        <p:spPr>
          <a:xfrm>
            <a:off x="6446520" y="3264408"/>
            <a:ext cx="2331721" cy="685801"/>
          </a:xfrm>
          <a:prstGeom prst="rect">
            <a:avLst/>
          </a:prstGeom>
          <a:solidFill>
            <a:srgbClr val="F7F9FC"/>
          </a:solidFill>
          <a:ln>
            <a:solidFill>
              <a:srgbClr val="EEEEEE"/>
            </a:solidFill>
          </a:ln>
        </p:spPr>
        <p:txBody>
          <a:bodyPr lIns="45719" rIns="45719"/>
          <a:lstStyle/>
          <a:p>
            <a:pPr/>
          </a:p>
        </p:txBody>
      </p:sp>
      <p:sp>
        <p:nvSpPr>
          <p:cNvPr id="182" name="Text 9"/>
          <p:cNvSpPr txBox="1"/>
          <p:nvPr/>
        </p:nvSpPr>
        <p:spPr>
          <a:xfrm>
            <a:off x="6492240" y="3314744"/>
            <a:ext cx="224028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333333"/>
                </a:solidFill>
              </a:defRPr>
            </a:lvl1pPr>
          </a:lstStyle>
          <a:p>
            <a:pPr/>
            <a:r>
              <a:t>Random Forest</a:t>
            </a:r>
          </a:p>
        </p:txBody>
      </p:sp>
      <p:sp>
        <p:nvSpPr>
          <p:cNvPr id="183" name="Text 10"/>
          <p:cNvSpPr txBox="1"/>
          <p:nvPr/>
        </p:nvSpPr>
        <p:spPr>
          <a:xfrm>
            <a:off x="6492240" y="3536776"/>
            <a:ext cx="224028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666666"/>
                </a:solidFill>
              </a:defRPr>
            </a:lvl1pPr>
          </a:lstStyle>
          <a:p>
            <a:pPr/>
            <a:r>
              <a:t>AUC = 0.657</a:t>
            </a:r>
          </a:p>
        </p:txBody>
      </p:sp>
      <p:sp>
        <p:nvSpPr>
          <p:cNvPr id="184" name="Shape 11"/>
          <p:cNvSpPr/>
          <p:nvPr/>
        </p:nvSpPr>
        <p:spPr>
          <a:xfrm>
            <a:off x="6446520" y="4041647"/>
            <a:ext cx="2331721" cy="685801"/>
          </a:xfrm>
          <a:prstGeom prst="rect">
            <a:avLst/>
          </a:prstGeom>
          <a:solidFill>
            <a:srgbClr val="F7F9FC"/>
          </a:solidFill>
          <a:ln>
            <a:solidFill>
              <a:srgbClr val="EEEEEE"/>
            </a:solidFill>
          </a:ln>
        </p:spPr>
        <p:txBody>
          <a:bodyPr lIns="45719" rIns="45719"/>
          <a:lstStyle/>
          <a:p>
            <a:pPr/>
          </a:p>
        </p:txBody>
      </p:sp>
      <p:sp>
        <p:nvSpPr>
          <p:cNvPr id="185" name="Text 12"/>
          <p:cNvSpPr txBox="1"/>
          <p:nvPr/>
        </p:nvSpPr>
        <p:spPr>
          <a:xfrm>
            <a:off x="6492240" y="4091984"/>
            <a:ext cx="224028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333333"/>
                </a:solidFill>
              </a:defRPr>
            </a:lvl1pPr>
          </a:lstStyle>
          <a:p>
            <a:pPr/>
            <a:r>
              <a:t>XGBoost</a:t>
            </a:r>
          </a:p>
        </p:txBody>
      </p:sp>
      <p:sp>
        <p:nvSpPr>
          <p:cNvPr id="186" name="Text 13"/>
          <p:cNvSpPr txBox="1"/>
          <p:nvPr/>
        </p:nvSpPr>
        <p:spPr>
          <a:xfrm>
            <a:off x="6492240" y="4314016"/>
            <a:ext cx="224028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666666"/>
                </a:solidFill>
              </a:defRPr>
            </a:lvl1pPr>
          </a:lstStyle>
          <a:p>
            <a:pPr/>
            <a:r>
              <a:t>AUC = 0.630</a:t>
            </a:r>
          </a:p>
        </p:txBody>
      </p:sp>
      <p:sp>
        <p:nvSpPr>
          <p:cNvPr id="187" name="Shape 14"/>
          <p:cNvSpPr/>
          <p:nvPr/>
        </p:nvSpPr>
        <p:spPr>
          <a:xfrm>
            <a:off x="0" y="4617720"/>
            <a:ext cx="9144000" cy="525781"/>
          </a:xfrm>
          <a:prstGeom prst="rect">
            <a:avLst/>
          </a:prstGeom>
          <a:solidFill>
            <a:srgbClr val="F0F2F0"/>
          </a:solidFill>
          <a:ln w="12700">
            <a:miter lim="400000"/>
          </a:ln>
        </p:spPr>
        <p:txBody>
          <a:bodyPr lIns="45719" rIns="45719"/>
          <a:lstStyle/>
          <a:p>
            <a:pPr/>
          </a:p>
        </p:txBody>
      </p:sp>
      <p:sp>
        <p:nvSpPr>
          <p:cNvPr id="188" name="Shape 15"/>
          <p:cNvSpPr/>
          <p:nvPr/>
        </p:nvSpPr>
        <p:spPr>
          <a:xfrm>
            <a:off x="0" y="4617720"/>
            <a:ext cx="9144000" cy="1"/>
          </a:xfrm>
          <a:prstGeom prst="line">
            <a:avLst/>
          </a:prstGeom>
          <a:ln w="12700">
            <a:solidFill>
              <a:srgbClr val="4A6FA5"/>
            </a:solidFill>
          </a:ln>
        </p:spPr>
        <p:txBody>
          <a:bodyPr lIns="45719" rIns="45719"/>
          <a:lstStyle/>
          <a:p>
            <a:pPr/>
          </a:p>
        </p:txBody>
      </p:sp>
      <p:sp>
        <p:nvSpPr>
          <p:cNvPr id="189" name="Text 16"/>
          <p:cNvSpPr txBox="1"/>
          <p:nvPr/>
        </p:nvSpPr>
        <p:spPr>
          <a:xfrm>
            <a:off x="411479" y="4756457"/>
            <a:ext cx="832104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111111"/>
                </a:solidFill>
              </a:defRPr>
            </a:lvl1pPr>
          </a:lstStyle>
          <a:p>
            <a:pPr/>
            <a:r>
              <a:t>At least with these features, additional complexity did not improve predictive performance.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hape 0"/>
          <p:cNvSpPr/>
          <p:nvPr/>
        </p:nvSpPr>
        <p:spPr>
          <a:xfrm>
            <a:off x="0" y="0"/>
            <a:ext cx="9144000" cy="5143500"/>
          </a:xfrm>
          <a:prstGeom prst="rect">
            <a:avLst/>
          </a:prstGeom>
          <a:solidFill>
            <a:srgbClr val="F7F9FC"/>
          </a:solidFill>
          <a:ln w="12700">
            <a:miter lim="400000"/>
          </a:ln>
        </p:spPr>
        <p:txBody>
          <a:bodyPr lIns="45719" rIns="45719"/>
          <a:lstStyle/>
          <a:p>
            <a:pPr/>
          </a:p>
        </p:txBody>
      </p:sp>
      <p:sp>
        <p:nvSpPr>
          <p:cNvPr id="194" name="Text 1"/>
          <p:cNvSpPr txBox="1"/>
          <p:nvPr/>
        </p:nvSpPr>
        <p:spPr>
          <a:xfrm>
            <a:off x="502919" y="278936"/>
            <a:ext cx="8138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1000">
                <a:solidFill>
                  <a:srgbClr val="666666"/>
                </a:solidFill>
              </a:defRPr>
            </a:lvl1pPr>
          </a:lstStyle>
          <a:p>
            <a:pPr/>
            <a:r>
              <a:t>Four lessons</a:t>
            </a:r>
          </a:p>
        </p:txBody>
      </p:sp>
      <p:sp>
        <p:nvSpPr>
          <p:cNvPr id="195" name="Text 2"/>
          <p:cNvSpPr txBox="1"/>
          <p:nvPr/>
        </p:nvSpPr>
        <p:spPr>
          <a:xfrm>
            <a:off x="502919" y="626988"/>
            <a:ext cx="8138161" cy="4376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600">
                <a:solidFill>
                  <a:srgbClr val="1E2761"/>
                </a:solidFill>
              </a:defRPr>
            </a:lvl1pPr>
          </a:lstStyle>
          <a:p>
            <a:pPr/>
            <a:r>
              <a:t>When Tariffs Stop Moving Trade</a:t>
            </a:r>
          </a:p>
        </p:txBody>
      </p:sp>
      <p:sp>
        <p:nvSpPr>
          <p:cNvPr id="196" name="Shape 3"/>
          <p:cNvSpPr/>
          <p:nvPr/>
        </p:nvSpPr>
        <p:spPr>
          <a:xfrm>
            <a:off x="457200" y="1188719"/>
            <a:ext cx="8229600" cy="1"/>
          </a:xfrm>
          <a:prstGeom prst="line">
            <a:avLst/>
          </a:prstGeom>
          <a:ln>
            <a:solidFill>
              <a:srgbClr val="4A6FA5"/>
            </a:solidFill>
          </a:ln>
        </p:spPr>
        <p:txBody>
          <a:bodyPr lIns="45719" rIns="45719"/>
          <a:lstStyle/>
          <a:p>
            <a:pPr/>
          </a:p>
        </p:txBody>
      </p:sp>
      <p:sp>
        <p:nvSpPr>
          <p:cNvPr id="197" name="Shape 4"/>
          <p:cNvSpPr/>
          <p:nvPr/>
        </p:nvSpPr>
        <p:spPr>
          <a:xfrm>
            <a:off x="457200" y="1389888"/>
            <a:ext cx="329185" cy="329185"/>
          </a:xfrm>
          <a:prstGeom prst="ellipse">
            <a:avLst/>
          </a:prstGeom>
          <a:solidFill>
            <a:srgbClr val="4A6FA5"/>
          </a:solidFill>
          <a:ln w="12700">
            <a:solidFill>
              <a:srgbClr val="4A6FA5"/>
            </a:solidFill>
          </a:ln>
        </p:spPr>
        <p:txBody>
          <a:bodyPr lIns="45719" rIns="45719"/>
          <a:lstStyle/>
          <a:p>
            <a:pPr/>
          </a:p>
        </p:txBody>
      </p:sp>
      <p:sp>
        <p:nvSpPr>
          <p:cNvPr id="198" name="Text 5"/>
          <p:cNvSpPr txBox="1"/>
          <p:nvPr/>
        </p:nvSpPr>
        <p:spPr>
          <a:xfrm>
            <a:off x="457200" y="1476047"/>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1</a:t>
            </a:r>
          </a:p>
        </p:txBody>
      </p:sp>
      <p:sp>
        <p:nvSpPr>
          <p:cNvPr id="199" name="Text 6"/>
          <p:cNvSpPr txBox="1"/>
          <p:nvPr/>
        </p:nvSpPr>
        <p:spPr>
          <a:xfrm>
            <a:off x="978408" y="1348031"/>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E2761"/>
                </a:solidFill>
              </a:defRPr>
            </a:lvl1pPr>
          </a:lstStyle>
          <a:p>
            <a:pPr/>
            <a:r>
              <a:t>Resolution matters.</a:t>
            </a:r>
          </a:p>
        </p:txBody>
      </p:sp>
      <p:sp>
        <p:nvSpPr>
          <p:cNvPr id="200" name="Text 7"/>
          <p:cNvSpPr txBox="1"/>
          <p:nvPr/>
        </p:nvSpPr>
        <p:spPr>
          <a:xfrm>
            <a:off x="978408" y="1658927"/>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33333"/>
                </a:solidFill>
              </a:defRPr>
            </a:lvl1pPr>
          </a:lstStyle>
          <a:p>
            <a:pPr/>
            <a:r>
              <a:t>The HS6 relationship (t = −16.4) was invisible at HS2. The signal lives where tariffs are applied.</a:t>
            </a:r>
          </a:p>
        </p:txBody>
      </p:sp>
      <p:sp>
        <p:nvSpPr>
          <p:cNvPr id="201" name="Shape 8"/>
          <p:cNvSpPr/>
          <p:nvPr/>
        </p:nvSpPr>
        <p:spPr>
          <a:xfrm>
            <a:off x="457200" y="2139695"/>
            <a:ext cx="329185" cy="329185"/>
          </a:xfrm>
          <a:prstGeom prst="ellipse">
            <a:avLst/>
          </a:prstGeom>
          <a:solidFill>
            <a:srgbClr val="4A6FA5"/>
          </a:solidFill>
          <a:ln w="12700">
            <a:solidFill>
              <a:srgbClr val="4A6FA5"/>
            </a:solidFill>
          </a:ln>
        </p:spPr>
        <p:txBody>
          <a:bodyPr lIns="45719" rIns="45719"/>
          <a:lstStyle/>
          <a:p>
            <a:pPr/>
          </a:p>
        </p:txBody>
      </p:sp>
      <p:sp>
        <p:nvSpPr>
          <p:cNvPr id="202" name="Text 9"/>
          <p:cNvSpPr txBox="1"/>
          <p:nvPr/>
        </p:nvSpPr>
        <p:spPr>
          <a:xfrm>
            <a:off x="457200" y="2225855"/>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2</a:t>
            </a:r>
          </a:p>
        </p:txBody>
      </p:sp>
      <p:sp>
        <p:nvSpPr>
          <p:cNvPr id="203" name="Text 10"/>
          <p:cNvSpPr txBox="1"/>
          <p:nvPr/>
        </p:nvSpPr>
        <p:spPr>
          <a:xfrm>
            <a:off x="978408" y="2097839"/>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E2761"/>
                </a:solidFill>
              </a:defRPr>
            </a:lvl1pPr>
          </a:lstStyle>
          <a:p>
            <a:pPr/>
            <a:r>
              <a:t>Tariffs predicted disruption in 2019.</a:t>
            </a:r>
          </a:p>
        </p:txBody>
      </p:sp>
      <p:sp>
        <p:nvSpPr>
          <p:cNvPr id="204" name="Text 11"/>
          <p:cNvSpPr txBox="1"/>
          <p:nvPr/>
        </p:nvSpPr>
        <p:spPr>
          <a:xfrm>
            <a:off x="978408" y="2408735"/>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33333"/>
                </a:solidFill>
              </a:defRPr>
            </a:lvl1pPr>
          </a:lstStyle>
          <a:p>
            <a:pPr/>
            <a:r>
              <a:t>+18% untariffed, −46% heavily tariffed. A logistic model predicts disruption with AUC 0.689.</a:t>
            </a:r>
          </a:p>
        </p:txBody>
      </p:sp>
      <p:sp>
        <p:nvSpPr>
          <p:cNvPr id="205" name="Shape 12"/>
          <p:cNvSpPr/>
          <p:nvPr/>
        </p:nvSpPr>
        <p:spPr>
          <a:xfrm>
            <a:off x="457200" y="2889504"/>
            <a:ext cx="329185" cy="329185"/>
          </a:xfrm>
          <a:prstGeom prst="ellipse">
            <a:avLst/>
          </a:prstGeom>
          <a:solidFill>
            <a:srgbClr val="4A6FA5"/>
          </a:solidFill>
          <a:ln w="12700">
            <a:solidFill>
              <a:srgbClr val="4A6FA5"/>
            </a:solidFill>
          </a:ln>
        </p:spPr>
        <p:txBody>
          <a:bodyPr lIns="45719" rIns="45719"/>
          <a:lstStyle/>
          <a:p>
            <a:pPr/>
          </a:p>
        </p:txBody>
      </p:sp>
      <p:sp>
        <p:nvSpPr>
          <p:cNvPr id="206" name="Text 13"/>
          <p:cNvSpPr txBox="1"/>
          <p:nvPr/>
        </p:nvSpPr>
        <p:spPr>
          <a:xfrm>
            <a:off x="457200" y="2975663"/>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3</a:t>
            </a:r>
          </a:p>
        </p:txBody>
      </p:sp>
      <p:sp>
        <p:nvSpPr>
          <p:cNvPr id="207" name="Text 14"/>
          <p:cNvSpPr txBox="1"/>
          <p:nvPr/>
        </p:nvSpPr>
        <p:spPr>
          <a:xfrm>
            <a:off x="978408" y="2847647"/>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E2761"/>
                </a:solidFill>
              </a:defRPr>
            </a:lvl1pPr>
          </a:lstStyle>
          <a:p>
            <a:pPr/>
            <a:r>
              <a:t>The relationship disappeared by 2025.</a:t>
            </a:r>
          </a:p>
        </p:txBody>
      </p:sp>
      <p:sp>
        <p:nvSpPr>
          <p:cNvPr id="208" name="Text 15"/>
          <p:cNvSpPr txBox="1"/>
          <p:nvPr/>
        </p:nvSpPr>
        <p:spPr>
          <a:xfrm>
            <a:off x="978408" y="3158543"/>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33333"/>
                </a:solidFill>
              </a:defRPr>
            </a:lvl1pPr>
          </a:lstStyle>
          <a:p>
            <a:pPr/>
            <a:r>
              <a:t>Elastic products exited disproportionately (t = −6.33, p &lt; 0.001). Even among survivors, dose-response was absent.</a:t>
            </a:r>
          </a:p>
        </p:txBody>
      </p:sp>
      <p:sp>
        <p:nvSpPr>
          <p:cNvPr id="209" name="Shape 16"/>
          <p:cNvSpPr/>
          <p:nvPr/>
        </p:nvSpPr>
        <p:spPr>
          <a:xfrm>
            <a:off x="457200" y="3639311"/>
            <a:ext cx="329185" cy="329185"/>
          </a:xfrm>
          <a:prstGeom prst="ellipse">
            <a:avLst/>
          </a:prstGeom>
          <a:solidFill>
            <a:srgbClr val="4A6FA5"/>
          </a:solidFill>
          <a:ln w="12700">
            <a:solidFill>
              <a:srgbClr val="4A6FA5"/>
            </a:solidFill>
          </a:ln>
        </p:spPr>
        <p:txBody>
          <a:bodyPr lIns="45719" rIns="45719"/>
          <a:lstStyle/>
          <a:p>
            <a:pPr/>
          </a:p>
        </p:txBody>
      </p:sp>
      <p:sp>
        <p:nvSpPr>
          <p:cNvPr id="210" name="Text 17"/>
          <p:cNvSpPr txBox="1"/>
          <p:nvPr/>
        </p:nvSpPr>
        <p:spPr>
          <a:xfrm>
            <a:off x="457200" y="3725471"/>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4</a:t>
            </a:r>
          </a:p>
        </p:txBody>
      </p:sp>
      <p:sp>
        <p:nvSpPr>
          <p:cNvPr id="211" name="Text 18"/>
          <p:cNvSpPr txBox="1"/>
          <p:nvPr/>
        </p:nvSpPr>
        <p:spPr>
          <a:xfrm>
            <a:off x="978408" y="3597455"/>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E2761"/>
                </a:solidFill>
              </a:defRPr>
            </a:lvl1pPr>
          </a:lstStyle>
          <a:p>
            <a:pPr/>
            <a:r>
              <a:t>Simpler models were enough.</a:t>
            </a:r>
          </a:p>
        </p:txBody>
      </p:sp>
      <p:sp>
        <p:nvSpPr>
          <p:cNvPr id="212" name="Text 19"/>
          <p:cNvSpPr txBox="1"/>
          <p:nvPr/>
        </p:nvSpPr>
        <p:spPr>
          <a:xfrm>
            <a:off x="978408" y="3908351"/>
            <a:ext cx="768096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33333"/>
                </a:solidFill>
              </a:defRPr>
            </a:lvl1pPr>
          </a:lstStyle>
          <a:p>
            <a:pPr/>
            <a:r>
              <a:t>Logistic (0.677) outperforms RF (0.657) and XGBoost (0.630). The mechanism is interpretable.</a:t>
            </a:r>
          </a:p>
        </p:txBody>
      </p:sp>
      <p:sp>
        <p:nvSpPr>
          <p:cNvPr id="213" name="Shape 20"/>
          <p:cNvSpPr/>
          <p:nvPr/>
        </p:nvSpPr>
        <p:spPr>
          <a:xfrm>
            <a:off x="457199" y="4315967"/>
            <a:ext cx="8321042" cy="475488"/>
          </a:xfrm>
          <a:prstGeom prst="rect">
            <a:avLst/>
          </a:prstGeom>
          <a:solidFill>
            <a:srgbClr val="FFFFFF"/>
          </a:solidFill>
          <a:ln>
            <a:solidFill>
              <a:srgbClr val="4A6FA5"/>
            </a:solidFill>
          </a:ln>
        </p:spPr>
        <p:txBody>
          <a:bodyPr lIns="45719" rIns="45719"/>
          <a:lstStyle/>
          <a:p>
            <a:pPr/>
          </a:p>
        </p:txBody>
      </p:sp>
      <p:sp>
        <p:nvSpPr>
          <p:cNvPr id="214" name="Text 21"/>
          <p:cNvSpPr txBox="1"/>
          <p:nvPr/>
        </p:nvSpPr>
        <p:spPr>
          <a:xfrm>
            <a:off x="594359" y="4439456"/>
            <a:ext cx="8138161" cy="2285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2C3E6B"/>
                </a:solidFill>
              </a:defRPr>
            </a:lvl1pPr>
          </a:lstStyle>
          <a:p>
            <a:pPr/>
            <a:r>
              <a:t>Preliminary elasticity evidence suggests selection explains part of the change, but not all of it.  The next question is why.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0"/>
          <p:cNvSpPr/>
          <p:nvPr/>
        </p:nvSpPr>
        <p:spPr>
          <a:xfrm>
            <a:off x="3185160" y="1651569"/>
            <a:ext cx="9144001" cy="5143501"/>
          </a:xfrm>
          <a:prstGeom prst="rect">
            <a:avLst/>
          </a:prstGeom>
          <a:solidFill>
            <a:srgbClr val="FFFFFF"/>
          </a:solidFill>
          <a:ln w="12700">
            <a:miter lim="400000"/>
          </a:ln>
        </p:spPr>
        <p:txBody>
          <a:bodyPr lIns="45719" rIns="45719"/>
          <a:lstStyle/>
          <a:p>
            <a:pPr/>
          </a:p>
        </p:txBody>
      </p:sp>
      <p:sp>
        <p:nvSpPr>
          <p:cNvPr id="219" name="Shape 1"/>
          <p:cNvSpPr/>
          <p:nvPr/>
        </p:nvSpPr>
        <p:spPr>
          <a:xfrm>
            <a:off x="365759" y="201168"/>
            <a:ext cx="2560322" cy="246889"/>
          </a:xfrm>
          <a:prstGeom prst="rect">
            <a:avLst/>
          </a:prstGeom>
          <a:solidFill>
            <a:srgbClr val="E8EEF4"/>
          </a:solidFill>
          <a:ln>
            <a:solidFill>
              <a:srgbClr val="4A6FA5"/>
            </a:solidFill>
          </a:ln>
        </p:spPr>
        <p:txBody>
          <a:bodyPr lIns="45719" rIns="45719"/>
          <a:lstStyle/>
          <a:p>
            <a:pPr/>
          </a:p>
        </p:txBody>
      </p:sp>
      <p:sp>
        <p:nvSpPr>
          <p:cNvPr id="220" name="Text 2"/>
          <p:cNvSpPr txBox="1"/>
          <p:nvPr/>
        </p:nvSpPr>
        <p:spPr>
          <a:xfrm>
            <a:off x="365759" y="261111"/>
            <a:ext cx="2560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2C3E6B"/>
                </a:solidFill>
              </a:defRPr>
            </a:lvl1pPr>
          </a:lstStyle>
          <a:p>
            <a:pPr/>
            <a:r>
              <a:t>LIMITATIONS &amp; NEXT STEPS</a:t>
            </a:r>
          </a:p>
        </p:txBody>
      </p:sp>
      <p:sp>
        <p:nvSpPr>
          <p:cNvPr id="221" name="Text 3"/>
          <p:cNvSpPr txBox="1"/>
          <p:nvPr/>
        </p:nvSpPr>
        <p:spPr>
          <a:xfrm>
            <a:off x="411479" y="699877"/>
            <a:ext cx="8321041" cy="39247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E2761"/>
                </a:solidFill>
              </a:defRPr>
            </a:lvl1pPr>
          </a:lstStyle>
          <a:p>
            <a:pPr/>
            <a:r>
              <a:t>What we know — and what we don't yet.</a:t>
            </a:r>
          </a:p>
        </p:txBody>
      </p:sp>
      <p:sp>
        <p:nvSpPr>
          <p:cNvPr id="222" name="Text 4"/>
          <p:cNvSpPr txBox="1"/>
          <p:nvPr/>
        </p:nvSpPr>
        <p:spPr>
          <a:xfrm>
            <a:off x="411479" y="1289506"/>
            <a:ext cx="384048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4A6FA5"/>
                </a:solidFill>
              </a:defRPr>
            </a:lvl1pPr>
          </a:lstStyle>
          <a:p>
            <a:pPr/>
            <a:r>
              <a:t>What we know</a:t>
            </a:r>
          </a:p>
        </p:txBody>
      </p:sp>
      <p:sp>
        <p:nvSpPr>
          <p:cNvPr id="223" name="Shape 5"/>
          <p:cNvSpPr/>
          <p:nvPr/>
        </p:nvSpPr>
        <p:spPr>
          <a:xfrm>
            <a:off x="365759" y="1627632"/>
            <a:ext cx="4768653" cy="1325881"/>
          </a:xfrm>
          <a:prstGeom prst="rect">
            <a:avLst/>
          </a:prstGeom>
          <a:solidFill>
            <a:srgbClr val="E8EEF4"/>
          </a:solidFill>
          <a:ln>
            <a:solidFill>
              <a:srgbClr val="DDDDDD"/>
            </a:solidFill>
          </a:ln>
        </p:spPr>
        <p:txBody>
          <a:bodyPr lIns="45719" rIns="45719"/>
          <a:lstStyle/>
          <a:p>
            <a:pPr/>
          </a:p>
        </p:txBody>
      </p:sp>
      <p:sp>
        <p:nvSpPr>
          <p:cNvPr id="224" name="Text 6"/>
          <p:cNvSpPr txBox="1"/>
          <p:nvPr/>
        </p:nvSpPr>
        <p:spPr>
          <a:xfrm>
            <a:off x="548639" y="1763707"/>
            <a:ext cx="4402893"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300">
                <a:solidFill>
                  <a:srgbClr val="333333"/>
                </a:solidFill>
              </a:defRPr>
            </a:lvl1pPr>
          </a:lstStyle>
          <a:p>
            <a:pPr/>
            <a:r>
              <a:t>·  The tariff-response relationship disappeared by 2025.</a:t>
            </a:r>
          </a:p>
        </p:txBody>
      </p:sp>
      <p:sp>
        <p:nvSpPr>
          <p:cNvPr id="225" name="Text 7"/>
          <p:cNvSpPr txBox="1"/>
          <p:nvPr/>
        </p:nvSpPr>
        <p:spPr>
          <a:xfrm>
            <a:off x="548639" y="2156899"/>
            <a:ext cx="4590536"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300">
                <a:solidFill>
                  <a:srgbClr val="333333"/>
                </a:solidFill>
              </a:defRPr>
            </a:lvl1pPr>
          </a:lstStyle>
          <a:p>
            <a:pPr/>
            <a:r>
              <a:t>·  Elastic products exited disproportionately (t = −6.33, p &lt; 0.001).</a:t>
            </a:r>
          </a:p>
        </p:txBody>
      </p:sp>
      <p:sp>
        <p:nvSpPr>
          <p:cNvPr id="226" name="Text 8"/>
          <p:cNvSpPr txBox="1"/>
          <p:nvPr/>
        </p:nvSpPr>
        <p:spPr>
          <a:xfrm>
            <a:off x="548639" y="2550090"/>
            <a:ext cx="4402893"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0000"/>
              </a:lnSpc>
              <a:defRPr sz="1300">
                <a:solidFill>
                  <a:srgbClr val="333333"/>
                </a:solidFill>
              </a:defRPr>
            </a:lvl1pPr>
          </a:lstStyle>
          <a:p>
            <a:pPr/>
            <a:r>
              <a:t>·  Even among elastic survivors, the dose-response was absent.</a:t>
            </a:r>
          </a:p>
        </p:txBody>
      </p:sp>
      <p:sp>
        <p:nvSpPr>
          <p:cNvPr id="227" name="Text 9"/>
          <p:cNvSpPr txBox="1"/>
          <p:nvPr/>
        </p:nvSpPr>
        <p:spPr>
          <a:xfrm>
            <a:off x="5445760" y="1294455"/>
            <a:ext cx="3141306"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B03A2E"/>
                </a:solidFill>
              </a:defRPr>
            </a:lvl1pPr>
          </a:lstStyle>
          <a:p>
            <a:pPr/>
            <a:r>
              <a:t>What we don't yet know</a:t>
            </a:r>
          </a:p>
        </p:txBody>
      </p:sp>
      <p:sp>
        <p:nvSpPr>
          <p:cNvPr id="228" name="Shape 10"/>
          <p:cNvSpPr/>
          <p:nvPr/>
        </p:nvSpPr>
        <p:spPr>
          <a:xfrm>
            <a:off x="5400040" y="1627632"/>
            <a:ext cx="3131781" cy="1325881"/>
          </a:xfrm>
          <a:prstGeom prst="rect">
            <a:avLst/>
          </a:prstGeom>
          <a:solidFill>
            <a:srgbClr val="F7F9FC"/>
          </a:solidFill>
          <a:ln>
            <a:solidFill>
              <a:srgbClr val="EEEEEE"/>
            </a:solidFill>
          </a:ln>
        </p:spPr>
        <p:txBody>
          <a:bodyPr lIns="45719" rIns="45719"/>
          <a:lstStyle/>
          <a:p>
            <a:pPr/>
          </a:p>
        </p:txBody>
      </p:sp>
      <p:sp>
        <p:nvSpPr>
          <p:cNvPr id="229" name="Text 11"/>
          <p:cNvSpPr txBox="1"/>
          <p:nvPr/>
        </p:nvSpPr>
        <p:spPr>
          <a:xfrm>
            <a:off x="5582920" y="1717987"/>
            <a:ext cx="276602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  Supply-chain restructuring</a:t>
            </a:r>
          </a:p>
        </p:txBody>
      </p:sp>
      <p:sp>
        <p:nvSpPr>
          <p:cNvPr id="230" name="Text 12"/>
          <p:cNvSpPr txBox="1"/>
          <p:nvPr/>
        </p:nvSpPr>
        <p:spPr>
          <a:xfrm>
            <a:off x="5582920" y="2010594"/>
            <a:ext cx="276602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  Trade diversion</a:t>
            </a:r>
          </a:p>
        </p:txBody>
      </p:sp>
      <p:sp>
        <p:nvSpPr>
          <p:cNvPr id="231" name="Text 13"/>
          <p:cNvSpPr txBox="1"/>
          <p:nvPr/>
        </p:nvSpPr>
        <p:spPr>
          <a:xfrm>
            <a:off x="5582920" y="2303203"/>
            <a:ext cx="276602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  Tariff circumvention</a:t>
            </a:r>
          </a:p>
        </p:txBody>
      </p:sp>
      <p:sp>
        <p:nvSpPr>
          <p:cNvPr id="232" name="Text 14"/>
          <p:cNvSpPr txBox="1"/>
          <p:nvPr/>
        </p:nvSpPr>
        <p:spPr>
          <a:xfrm>
            <a:off x="5582920" y="2595811"/>
            <a:ext cx="2766021"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  Other firm-level adaptation</a:t>
            </a:r>
          </a:p>
        </p:txBody>
      </p:sp>
      <p:sp>
        <p:nvSpPr>
          <p:cNvPr id="233" name="Text 15"/>
          <p:cNvSpPr txBox="1"/>
          <p:nvPr/>
        </p:nvSpPr>
        <p:spPr>
          <a:xfrm>
            <a:off x="411479" y="3104967"/>
            <a:ext cx="8321041"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2C3E6B"/>
                </a:solidFill>
              </a:defRPr>
            </a:lvl1pPr>
          </a:lstStyle>
          <a:p>
            <a:pPr/>
            <a:r>
              <a:t>Three caveats</a:t>
            </a:r>
          </a:p>
        </p:txBody>
      </p:sp>
      <p:sp>
        <p:nvSpPr>
          <p:cNvPr id="234" name="Text 16"/>
          <p:cNvSpPr txBox="1"/>
          <p:nvPr/>
        </p:nvSpPr>
        <p:spPr>
          <a:xfrm>
            <a:off x="411479" y="3464490"/>
            <a:ext cx="83210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1.  Product-level analysis only — we observe trade outcomes, not how individual firms adapted.</a:t>
            </a:r>
          </a:p>
        </p:txBody>
      </p:sp>
      <p:sp>
        <p:nvSpPr>
          <p:cNvPr id="235" name="Text 17"/>
          <p:cNvSpPr txBox="1"/>
          <p:nvPr/>
        </p:nvSpPr>
        <p:spPr>
          <a:xfrm>
            <a:off x="411479" y="3811962"/>
            <a:ext cx="83210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2.  Elasticity results are preliminary, covering ~85% of products. They suggest one mechanism, not the whole story.</a:t>
            </a:r>
          </a:p>
        </p:txBody>
      </p:sp>
      <p:sp>
        <p:nvSpPr>
          <p:cNvPr id="236" name="Text 18"/>
          <p:cNvSpPr txBox="1"/>
          <p:nvPr/>
        </p:nvSpPr>
        <p:spPr>
          <a:xfrm>
            <a:off x="411479" y="4159434"/>
            <a:ext cx="832104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defRPr>
            </a:lvl1pPr>
          </a:lstStyle>
          <a:p>
            <a:pPr/>
            <a:r>
              <a:t>3.  Cross-sectional associations at annual frequency — not causal identification.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241" name="Shape 1"/>
          <p:cNvSpPr/>
          <p:nvPr/>
        </p:nvSpPr>
        <p:spPr>
          <a:xfrm>
            <a:off x="0" y="-1"/>
            <a:ext cx="9144000" cy="365762"/>
          </a:xfrm>
          <a:prstGeom prst="rect">
            <a:avLst/>
          </a:prstGeom>
          <a:solidFill>
            <a:srgbClr val="E8EEF4"/>
          </a:solidFill>
          <a:ln w="12700">
            <a:miter lim="400000"/>
          </a:ln>
        </p:spPr>
        <p:txBody>
          <a:bodyPr lIns="45719" rIns="45719"/>
          <a:lstStyle/>
          <a:p>
            <a:pPr/>
          </a:p>
        </p:txBody>
      </p:sp>
      <p:sp>
        <p:nvSpPr>
          <p:cNvPr id="242" name="Shape 2"/>
          <p:cNvSpPr/>
          <p:nvPr/>
        </p:nvSpPr>
        <p:spPr>
          <a:xfrm>
            <a:off x="0" y="365759"/>
            <a:ext cx="9144000" cy="1"/>
          </a:xfrm>
          <a:prstGeom prst="line">
            <a:avLst/>
          </a:prstGeom>
          <a:ln w="6350">
            <a:solidFill>
              <a:srgbClr val="4A6FA5"/>
            </a:solidFill>
          </a:ln>
        </p:spPr>
        <p:txBody>
          <a:bodyPr lIns="45719" rIns="45719"/>
          <a:lstStyle/>
          <a:p>
            <a:pPr/>
          </a:p>
        </p:txBody>
      </p:sp>
      <p:sp>
        <p:nvSpPr>
          <p:cNvPr id="243" name="Text 3"/>
          <p:cNvSpPr txBox="1"/>
          <p:nvPr/>
        </p:nvSpPr>
        <p:spPr>
          <a:xfrm>
            <a:off x="411479" y="68624"/>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C3E6B"/>
                </a:solidFill>
              </a:defRPr>
            </a:lvl1pPr>
          </a:lstStyle>
          <a:p>
            <a:pPr/>
            <a:r>
              <a:t>APPENDIX A1  ·  How the Harmonized System works — HS2 vs HS6</a:t>
            </a:r>
          </a:p>
        </p:txBody>
      </p:sp>
      <p:pic>
        <p:nvPicPr>
          <p:cNvPr id="244" name="Image 0" descr="Image 0"/>
          <p:cNvPicPr>
            <a:picLocks noChangeAspect="1"/>
          </p:cNvPicPr>
          <p:nvPr/>
        </p:nvPicPr>
        <p:blipFill>
          <a:blip r:embed="rId3">
            <a:extLst/>
          </a:blip>
          <a:stretch>
            <a:fillRect/>
          </a:stretch>
        </p:blipFill>
        <p:spPr>
          <a:xfrm>
            <a:off x="457200" y="438912"/>
            <a:ext cx="8229600" cy="4498848"/>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249" name="Shape 1"/>
          <p:cNvSpPr/>
          <p:nvPr/>
        </p:nvSpPr>
        <p:spPr>
          <a:xfrm>
            <a:off x="0" y="-1"/>
            <a:ext cx="9144000" cy="365762"/>
          </a:xfrm>
          <a:prstGeom prst="rect">
            <a:avLst/>
          </a:prstGeom>
          <a:solidFill>
            <a:srgbClr val="E8EEF4"/>
          </a:solidFill>
          <a:ln w="12700">
            <a:miter lim="400000"/>
          </a:ln>
        </p:spPr>
        <p:txBody>
          <a:bodyPr lIns="45719" rIns="45719"/>
          <a:lstStyle/>
          <a:p>
            <a:pPr/>
          </a:p>
        </p:txBody>
      </p:sp>
      <p:sp>
        <p:nvSpPr>
          <p:cNvPr id="250" name="Shape 2"/>
          <p:cNvSpPr/>
          <p:nvPr/>
        </p:nvSpPr>
        <p:spPr>
          <a:xfrm>
            <a:off x="0" y="365759"/>
            <a:ext cx="9144000" cy="1"/>
          </a:xfrm>
          <a:prstGeom prst="line">
            <a:avLst/>
          </a:prstGeom>
          <a:ln w="6350">
            <a:solidFill>
              <a:srgbClr val="4A6FA5"/>
            </a:solidFill>
          </a:ln>
        </p:spPr>
        <p:txBody>
          <a:bodyPr lIns="45719" rIns="45719"/>
          <a:lstStyle/>
          <a:p>
            <a:pPr/>
          </a:p>
        </p:txBody>
      </p:sp>
      <p:sp>
        <p:nvSpPr>
          <p:cNvPr id="251" name="Text 3"/>
          <p:cNvSpPr txBox="1"/>
          <p:nvPr/>
        </p:nvSpPr>
        <p:spPr>
          <a:xfrm>
            <a:off x="411479" y="68624"/>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C3E6B"/>
                </a:solidFill>
              </a:defRPr>
            </a:lvl1pPr>
          </a:lstStyle>
          <a:p>
            <a:pPr/>
            <a:r>
              <a:t>APPENDIX A2  ·  Tariff rate distributions: Trump 1 vs Trump 2</a:t>
            </a:r>
          </a:p>
        </p:txBody>
      </p:sp>
      <p:sp>
        <p:nvSpPr>
          <p:cNvPr id="252" name="Shape 4"/>
          <p:cNvSpPr/>
          <p:nvPr/>
        </p:nvSpPr>
        <p:spPr>
          <a:xfrm>
            <a:off x="457200" y="914400"/>
            <a:ext cx="8229600" cy="3200400"/>
          </a:xfrm>
          <a:prstGeom prst="rect">
            <a:avLst/>
          </a:prstGeom>
          <a:solidFill>
            <a:srgbClr val="F7F9FC"/>
          </a:solidFill>
          <a:ln w="12700">
            <a:solidFill>
              <a:srgbClr val="EEEEEE"/>
            </a:solidFill>
          </a:ln>
        </p:spPr>
        <p:txBody>
          <a:bodyPr lIns="45719" rIns="45719"/>
          <a:lstStyle/>
          <a:p>
            <a:pPr/>
          </a:p>
        </p:txBody>
      </p:sp>
      <p:sp>
        <p:nvSpPr>
          <p:cNvPr id="253" name="Text 5"/>
          <p:cNvSpPr txBox="1"/>
          <p:nvPr/>
        </p:nvSpPr>
        <p:spPr>
          <a:xfrm>
            <a:off x="502919" y="2344727"/>
            <a:ext cx="813816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200">
                <a:solidFill>
                  <a:srgbClr val="666666"/>
                </a:solidFill>
              </a:defRPr>
            </a:lvl1pPr>
          </a:lstStyle>
          <a:p>
            <a:pPr/>
            <a:r>
              <a:t>Run scripts/21_appendix_methods.R then re-upload figA2_tariff_distribution.png</a:t>
            </a:r>
          </a:p>
        </p:txBody>
      </p:sp>
      <p:pic>
        <p:nvPicPr>
          <p:cNvPr id="254" name="figA2_tariff_distribution.png" descr="figA2_tariff_distribution.png"/>
          <p:cNvPicPr>
            <a:picLocks noChangeAspect="1"/>
          </p:cNvPicPr>
          <p:nvPr/>
        </p:nvPicPr>
        <p:blipFill>
          <a:blip r:embed="rId3">
            <a:extLst/>
          </a:blip>
          <a:stretch>
            <a:fillRect/>
          </a:stretch>
        </p:blipFill>
        <p:spPr>
          <a:xfrm>
            <a:off x="450850" y="551564"/>
            <a:ext cx="8242300" cy="44958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259" name="Shape 1"/>
          <p:cNvSpPr/>
          <p:nvPr/>
        </p:nvSpPr>
        <p:spPr>
          <a:xfrm>
            <a:off x="0" y="-1"/>
            <a:ext cx="9144000" cy="365762"/>
          </a:xfrm>
          <a:prstGeom prst="rect">
            <a:avLst/>
          </a:prstGeom>
          <a:solidFill>
            <a:srgbClr val="E8EEF4"/>
          </a:solidFill>
          <a:ln w="12700">
            <a:miter lim="400000"/>
          </a:ln>
        </p:spPr>
        <p:txBody>
          <a:bodyPr lIns="45719" rIns="45719"/>
          <a:lstStyle/>
          <a:p>
            <a:pPr/>
          </a:p>
        </p:txBody>
      </p:sp>
      <p:sp>
        <p:nvSpPr>
          <p:cNvPr id="260" name="Shape 2"/>
          <p:cNvSpPr/>
          <p:nvPr/>
        </p:nvSpPr>
        <p:spPr>
          <a:xfrm>
            <a:off x="0" y="365759"/>
            <a:ext cx="9144000" cy="1"/>
          </a:xfrm>
          <a:prstGeom prst="line">
            <a:avLst/>
          </a:prstGeom>
          <a:ln w="6350">
            <a:solidFill>
              <a:srgbClr val="4A6FA5"/>
            </a:solidFill>
          </a:ln>
        </p:spPr>
        <p:txBody>
          <a:bodyPr lIns="45719" rIns="45719"/>
          <a:lstStyle/>
          <a:p>
            <a:pPr/>
          </a:p>
        </p:txBody>
      </p:sp>
      <p:sp>
        <p:nvSpPr>
          <p:cNvPr id="261" name="Text 3"/>
          <p:cNvSpPr txBox="1"/>
          <p:nvPr/>
        </p:nvSpPr>
        <p:spPr>
          <a:xfrm>
            <a:off x="411479" y="68624"/>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C3E6B"/>
                </a:solidFill>
              </a:defRPr>
            </a:lvl1pPr>
          </a:lstStyle>
          <a:p>
            <a:pPr/>
            <a:r>
              <a:t>APPENDIX A3  ·  Data merge flow and match rates</a:t>
            </a:r>
          </a:p>
        </p:txBody>
      </p:sp>
      <p:pic>
        <p:nvPicPr>
          <p:cNvPr id="262" name="Image 0" descr="Image 0"/>
          <p:cNvPicPr>
            <a:picLocks noChangeAspect="1"/>
          </p:cNvPicPr>
          <p:nvPr/>
        </p:nvPicPr>
        <p:blipFill>
          <a:blip r:embed="rId3">
            <a:extLst/>
          </a:blip>
          <a:stretch>
            <a:fillRect/>
          </a:stretch>
        </p:blipFill>
        <p:spPr>
          <a:xfrm>
            <a:off x="457200" y="438912"/>
            <a:ext cx="8229600" cy="4498848"/>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267" name="Shape 1"/>
          <p:cNvSpPr/>
          <p:nvPr/>
        </p:nvSpPr>
        <p:spPr>
          <a:xfrm>
            <a:off x="0" y="-1"/>
            <a:ext cx="9144000" cy="365762"/>
          </a:xfrm>
          <a:prstGeom prst="rect">
            <a:avLst/>
          </a:prstGeom>
          <a:solidFill>
            <a:srgbClr val="E8EEF4"/>
          </a:solidFill>
          <a:ln w="12700">
            <a:miter lim="400000"/>
          </a:ln>
        </p:spPr>
        <p:txBody>
          <a:bodyPr lIns="45719" rIns="45719"/>
          <a:lstStyle/>
          <a:p>
            <a:pPr/>
          </a:p>
        </p:txBody>
      </p:sp>
      <p:sp>
        <p:nvSpPr>
          <p:cNvPr id="268" name="Shape 2"/>
          <p:cNvSpPr/>
          <p:nvPr/>
        </p:nvSpPr>
        <p:spPr>
          <a:xfrm>
            <a:off x="0" y="365759"/>
            <a:ext cx="9144000" cy="1"/>
          </a:xfrm>
          <a:prstGeom prst="line">
            <a:avLst/>
          </a:prstGeom>
          <a:ln w="6350">
            <a:solidFill>
              <a:srgbClr val="4A6FA5"/>
            </a:solidFill>
          </a:ln>
        </p:spPr>
        <p:txBody>
          <a:bodyPr lIns="45719" rIns="45719"/>
          <a:lstStyle/>
          <a:p>
            <a:pPr/>
          </a:p>
        </p:txBody>
      </p:sp>
      <p:sp>
        <p:nvSpPr>
          <p:cNvPr id="269" name="Text 3"/>
          <p:cNvSpPr txBox="1"/>
          <p:nvPr/>
        </p:nvSpPr>
        <p:spPr>
          <a:xfrm>
            <a:off x="411479" y="68624"/>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C3E6B"/>
                </a:solidFill>
              </a:defRPr>
            </a:lvl1pPr>
          </a:lstStyle>
          <a:p>
            <a:pPr/>
            <a:r>
              <a:t>APPENDIX A4  ·  US-China tariff escalation timeline, 2018–2026</a:t>
            </a:r>
          </a:p>
        </p:txBody>
      </p:sp>
      <p:pic>
        <p:nvPicPr>
          <p:cNvPr id="270" name="Image 0" descr="Image 0"/>
          <p:cNvPicPr>
            <a:picLocks noChangeAspect="1"/>
          </p:cNvPicPr>
          <p:nvPr/>
        </p:nvPicPr>
        <p:blipFill>
          <a:blip r:embed="rId3">
            <a:extLst/>
          </a:blip>
          <a:stretch>
            <a:fillRect/>
          </a:stretch>
        </p:blipFill>
        <p:spPr>
          <a:xfrm>
            <a:off x="91439" y="438912"/>
            <a:ext cx="8961121" cy="4498848"/>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275" name="Shape 1"/>
          <p:cNvSpPr/>
          <p:nvPr/>
        </p:nvSpPr>
        <p:spPr>
          <a:xfrm>
            <a:off x="0" y="-1"/>
            <a:ext cx="9144000" cy="365762"/>
          </a:xfrm>
          <a:prstGeom prst="rect">
            <a:avLst/>
          </a:prstGeom>
          <a:solidFill>
            <a:srgbClr val="E8EEF4"/>
          </a:solidFill>
          <a:ln w="12700">
            <a:miter lim="400000"/>
          </a:ln>
        </p:spPr>
        <p:txBody>
          <a:bodyPr lIns="45719" rIns="45719"/>
          <a:lstStyle/>
          <a:p>
            <a:pPr/>
          </a:p>
        </p:txBody>
      </p:sp>
      <p:sp>
        <p:nvSpPr>
          <p:cNvPr id="276" name="Shape 2"/>
          <p:cNvSpPr/>
          <p:nvPr/>
        </p:nvSpPr>
        <p:spPr>
          <a:xfrm>
            <a:off x="0" y="365759"/>
            <a:ext cx="9144000" cy="1"/>
          </a:xfrm>
          <a:prstGeom prst="line">
            <a:avLst/>
          </a:prstGeom>
          <a:ln w="6350">
            <a:solidFill>
              <a:srgbClr val="4A6FA5"/>
            </a:solidFill>
          </a:ln>
        </p:spPr>
        <p:txBody>
          <a:bodyPr lIns="45719" rIns="45719"/>
          <a:lstStyle/>
          <a:p>
            <a:pPr/>
          </a:p>
        </p:txBody>
      </p:sp>
      <p:sp>
        <p:nvSpPr>
          <p:cNvPr id="277" name="Text 3"/>
          <p:cNvSpPr txBox="1"/>
          <p:nvPr/>
        </p:nvSpPr>
        <p:spPr>
          <a:xfrm>
            <a:off x="411479" y="68624"/>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C3E6B"/>
                </a:solidFill>
              </a:defRPr>
            </a:lvl1pPr>
          </a:lstStyle>
          <a:p>
            <a:pPr/>
            <a:r>
              <a:t>APPENDIX A5  ·  Trump 1 vs Trump 2: dose-response by tariff bucket</a:t>
            </a:r>
          </a:p>
        </p:txBody>
      </p:sp>
      <p:pic>
        <p:nvPicPr>
          <p:cNvPr id="278" name="Image 0" descr="Image 0"/>
          <p:cNvPicPr>
            <a:picLocks noChangeAspect="1"/>
          </p:cNvPicPr>
          <p:nvPr/>
        </p:nvPicPr>
        <p:blipFill>
          <a:blip r:embed="rId3">
            <a:extLst/>
          </a:blip>
          <a:stretch>
            <a:fillRect/>
          </a:stretch>
        </p:blipFill>
        <p:spPr>
          <a:xfrm>
            <a:off x="274320" y="438912"/>
            <a:ext cx="8595360" cy="4498848"/>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0"/>
          <p:cNvSpPr/>
          <p:nvPr/>
        </p:nvSpPr>
        <p:spPr>
          <a:xfrm>
            <a:off x="0" y="0"/>
            <a:ext cx="9144000" cy="5143500"/>
          </a:xfrm>
          <a:prstGeom prst="rect">
            <a:avLst/>
          </a:prstGeom>
          <a:solidFill>
            <a:srgbClr val="FFFFFF"/>
          </a:solidFill>
          <a:ln w="12700">
            <a:miter lim="400000"/>
          </a:ln>
        </p:spPr>
        <p:txBody>
          <a:bodyPr lIns="45719" rIns="45719"/>
          <a:lstStyle/>
          <a:p>
            <a:pPr/>
          </a:p>
        </p:txBody>
      </p:sp>
      <p:sp>
        <p:nvSpPr>
          <p:cNvPr id="283" name="Shape 1"/>
          <p:cNvSpPr/>
          <p:nvPr/>
        </p:nvSpPr>
        <p:spPr>
          <a:xfrm>
            <a:off x="0" y="-1"/>
            <a:ext cx="9144000" cy="365762"/>
          </a:xfrm>
          <a:prstGeom prst="rect">
            <a:avLst/>
          </a:prstGeom>
          <a:solidFill>
            <a:srgbClr val="E8EEF4"/>
          </a:solidFill>
          <a:ln w="12700">
            <a:miter lim="400000"/>
          </a:ln>
        </p:spPr>
        <p:txBody>
          <a:bodyPr lIns="45719" rIns="45719"/>
          <a:lstStyle/>
          <a:p>
            <a:pPr/>
          </a:p>
        </p:txBody>
      </p:sp>
      <p:sp>
        <p:nvSpPr>
          <p:cNvPr id="284" name="Shape 2"/>
          <p:cNvSpPr/>
          <p:nvPr/>
        </p:nvSpPr>
        <p:spPr>
          <a:xfrm>
            <a:off x="0" y="365759"/>
            <a:ext cx="9144000" cy="1"/>
          </a:xfrm>
          <a:prstGeom prst="line">
            <a:avLst/>
          </a:prstGeom>
          <a:ln w="6350">
            <a:solidFill>
              <a:srgbClr val="4A6FA5"/>
            </a:solidFill>
          </a:ln>
        </p:spPr>
        <p:txBody>
          <a:bodyPr lIns="45719" rIns="45719"/>
          <a:lstStyle/>
          <a:p>
            <a:pPr/>
          </a:p>
        </p:txBody>
      </p:sp>
      <p:sp>
        <p:nvSpPr>
          <p:cNvPr id="285" name="Text 3"/>
          <p:cNvSpPr txBox="1"/>
          <p:nvPr/>
        </p:nvSpPr>
        <p:spPr>
          <a:xfrm>
            <a:off x="411479" y="68624"/>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C3E6B"/>
                </a:solidFill>
              </a:defRPr>
            </a:lvl1pPr>
          </a:lstStyle>
          <a:p>
            <a:pPr/>
            <a:r>
              <a:t>APPENDIX A6  ·  Elasticity extension: CEPII ProTEE × tariff dose-response</a:t>
            </a:r>
          </a:p>
        </p:txBody>
      </p:sp>
      <p:pic>
        <p:nvPicPr>
          <p:cNvPr id="286" name="Image 0" descr="Image 0"/>
          <p:cNvPicPr>
            <a:picLocks noChangeAspect="1"/>
          </p:cNvPicPr>
          <p:nvPr/>
        </p:nvPicPr>
        <p:blipFill>
          <a:blip r:embed="rId3">
            <a:extLst/>
          </a:blip>
          <a:stretch>
            <a:fillRect/>
          </a:stretch>
        </p:blipFill>
        <p:spPr>
          <a:xfrm>
            <a:off x="274320" y="438912"/>
            <a:ext cx="8595360" cy="3291841"/>
          </a:xfrm>
          <a:prstGeom prst="rect">
            <a:avLst/>
          </a:prstGeom>
          <a:ln w="12700">
            <a:miter lim="400000"/>
          </a:ln>
        </p:spPr>
      </p:pic>
      <p:sp>
        <p:nvSpPr>
          <p:cNvPr id="287" name="Shape 4"/>
          <p:cNvSpPr/>
          <p:nvPr/>
        </p:nvSpPr>
        <p:spPr>
          <a:xfrm>
            <a:off x="457200" y="3822191"/>
            <a:ext cx="2606040" cy="914401"/>
          </a:xfrm>
          <a:prstGeom prst="rect">
            <a:avLst/>
          </a:prstGeom>
          <a:solidFill>
            <a:srgbClr val="F7F9FC"/>
          </a:solidFill>
          <a:ln>
            <a:solidFill>
              <a:srgbClr val="EEEEEE"/>
            </a:solidFill>
          </a:ln>
        </p:spPr>
        <p:txBody>
          <a:bodyPr lIns="45719" rIns="45719"/>
          <a:lstStyle/>
          <a:p>
            <a:pPr/>
          </a:p>
        </p:txBody>
      </p:sp>
      <p:sp>
        <p:nvSpPr>
          <p:cNvPr id="288" name="Text 5"/>
          <p:cNvSpPr txBox="1"/>
          <p:nvPr/>
        </p:nvSpPr>
        <p:spPr>
          <a:xfrm>
            <a:off x="502920" y="3883826"/>
            <a:ext cx="251460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666666"/>
                </a:solidFill>
              </a:defRPr>
            </a:lvl1pPr>
          </a:lstStyle>
          <a:p>
            <a:pPr/>
            <a:r>
              <a:t>Exited products</a:t>
            </a:r>
          </a:p>
        </p:txBody>
      </p:sp>
      <p:sp>
        <p:nvSpPr>
          <p:cNvPr id="289" name="Text 6"/>
          <p:cNvSpPr txBox="1"/>
          <p:nvPr/>
        </p:nvSpPr>
        <p:spPr>
          <a:xfrm>
            <a:off x="502920" y="4115002"/>
            <a:ext cx="2514601" cy="3104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1E2761"/>
                </a:solidFill>
              </a:defRPr>
            </a:lvl1pPr>
          </a:lstStyle>
          <a:p>
            <a:pPr/>
            <a:r>
              <a:t>σ = −11.6</a:t>
            </a:r>
          </a:p>
        </p:txBody>
      </p:sp>
      <p:sp>
        <p:nvSpPr>
          <p:cNvPr id="290" name="Text 7"/>
          <p:cNvSpPr txBox="1"/>
          <p:nvPr/>
        </p:nvSpPr>
        <p:spPr>
          <a:xfrm>
            <a:off x="502920" y="4437039"/>
            <a:ext cx="25146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900">
                <a:solidFill>
                  <a:srgbClr val="333333"/>
                </a:solidFill>
              </a:defRPr>
            </a:lvl1pPr>
          </a:lstStyle>
          <a:p>
            <a:pPr/>
            <a:r>
              <a:t>more elastic</a:t>
            </a:r>
          </a:p>
        </p:txBody>
      </p:sp>
      <p:sp>
        <p:nvSpPr>
          <p:cNvPr id="291" name="Shape 8"/>
          <p:cNvSpPr/>
          <p:nvPr/>
        </p:nvSpPr>
        <p:spPr>
          <a:xfrm>
            <a:off x="3291840" y="3822191"/>
            <a:ext cx="2606041" cy="914401"/>
          </a:xfrm>
          <a:prstGeom prst="rect">
            <a:avLst/>
          </a:prstGeom>
          <a:solidFill>
            <a:srgbClr val="F7F9FC"/>
          </a:solidFill>
          <a:ln>
            <a:solidFill>
              <a:srgbClr val="EEEEEE"/>
            </a:solidFill>
          </a:ln>
        </p:spPr>
        <p:txBody>
          <a:bodyPr lIns="45719" rIns="45719"/>
          <a:lstStyle/>
          <a:p>
            <a:pPr/>
          </a:p>
        </p:txBody>
      </p:sp>
      <p:sp>
        <p:nvSpPr>
          <p:cNvPr id="292" name="Text 9"/>
          <p:cNvSpPr txBox="1"/>
          <p:nvPr/>
        </p:nvSpPr>
        <p:spPr>
          <a:xfrm>
            <a:off x="3337560" y="3883826"/>
            <a:ext cx="251460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666666"/>
                </a:solidFill>
              </a:defRPr>
            </a:lvl1pPr>
          </a:lstStyle>
          <a:p>
            <a:pPr/>
            <a:r>
              <a:t>Surviving products</a:t>
            </a:r>
          </a:p>
        </p:txBody>
      </p:sp>
      <p:sp>
        <p:nvSpPr>
          <p:cNvPr id="293" name="Text 10"/>
          <p:cNvSpPr txBox="1"/>
          <p:nvPr/>
        </p:nvSpPr>
        <p:spPr>
          <a:xfrm>
            <a:off x="3337560" y="4115002"/>
            <a:ext cx="2514601" cy="3104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1E2761"/>
                </a:solidFill>
              </a:defRPr>
            </a:lvl1pPr>
          </a:lstStyle>
          <a:p>
            <a:pPr/>
            <a:r>
              <a:t>σ = −8.7</a:t>
            </a:r>
          </a:p>
        </p:txBody>
      </p:sp>
      <p:sp>
        <p:nvSpPr>
          <p:cNvPr id="294" name="Text 11"/>
          <p:cNvSpPr txBox="1"/>
          <p:nvPr/>
        </p:nvSpPr>
        <p:spPr>
          <a:xfrm>
            <a:off x="3337560" y="4437039"/>
            <a:ext cx="25146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900">
                <a:solidFill>
                  <a:srgbClr val="333333"/>
                </a:solidFill>
              </a:defRPr>
            </a:lvl1pPr>
          </a:lstStyle>
          <a:p>
            <a:pPr/>
            <a:r>
              <a:t>less elastic</a:t>
            </a:r>
          </a:p>
        </p:txBody>
      </p:sp>
      <p:sp>
        <p:nvSpPr>
          <p:cNvPr id="295" name="Shape 12"/>
          <p:cNvSpPr/>
          <p:nvPr/>
        </p:nvSpPr>
        <p:spPr>
          <a:xfrm>
            <a:off x="6126479" y="3822191"/>
            <a:ext cx="2606041" cy="914401"/>
          </a:xfrm>
          <a:prstGeom prst="rect">
            <a:avLst/>
          </a:prstGeom>
          <a:solidFill>
            <a:srgbClr val="F7F9FC"/>
          </a:solidFill>
          <a:ln>
            <a:solidFill>
              <a:srgbClr val="EEEEEE"/>
            </a:solidFill>
          </a:ln>
        </p:spPr>
        <p:txBody>
          <a:bodyPr lIns="45719" rIns="45719"/>
          <a:lstStyle/>
          <a:p>
            <a:pPr/>
          </a:p>
        </p:txBody>
      </p:sp>
      <p:sp>
        <p:nvSpPr>
          <p:cNvPr id="296" name="Text 13"/>
          <p:cNvSpPr txBox="1"/>
          <p:nvPr/>
        </p:nvSpPr>
        <p:spPr>
          <a:xfrm>
            <a:off x="6172200" y="3883826"/>
            <a:ext cx="2514600"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666666"/>
                </a:solidFill>
              </a:defRPr>
            </a:lvl1pPr>
          </a:lstStyle>
          <a:p>
            <a:pPr/>
            <a:r>
              <a:t>Difference</a:t>
            </a:r>
          </a:p>
        </p:txBody>
      </p:sp>
      <p:sp>
        <p:nvSpPr>
          <p:cNvPr id="297" name="Text 14"/>
          <p:cNvSpPr txBox="1"/>
          <p:nvPr/>
        </p:nvSpPr>
        <p:spPr>
          <a:xfrm>
            <a:off x="6172200" y="4115002"/>
            <a:ext cx="2514600" cy="3104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1E2761"/>
                </a:solidFill>
              </a:defRPr>
            </a:lvl1pPr>
          </a:lstStyle>
          <a:p>
            <a:pPr/>
            <a:r>
              <a:t>t = −6.33</a:t>
            </a:r>
          </a:p>
        </p:txBody>
      </p:sp>
      <p:sp>
        <p:nvSpPr>
          <p:cNvPr id="298" name="Text 15"/>
          <p:cNvSpPr txBox="1"/>
          <p:nvPr/>
        </p:nvSpPr>
        <p:spPr>
          <a:xfrm>
            <a:off x="6172200" y="4437039"/>
            <a:ext cx="2514600"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900">
                <a:solidFill>
                  <a:srgbClr val="333333"/>
                </a:solidFill>
              </a:defRPr>
            </a:lvl1pPr>
          </a:lstStyle>
          <a:p>
            <a:pPr/>
            <a:r>
              <a:t>p &lt; 0.001</a:t>
            </a:r>
          </a:p>
        </p:txBody>
      </p:sp>
      <p:sp>
        <p:nvSpPr>
          <p:cNvPr id="299" name="Shape 16"/>
          <p:cNvSpPr/>
          <p:nvPr/>
        </p:nvSpPr>
        <p:spPr>
          <a:xfrm>
            <a:off x="0" y="4828032"/>
            <a:ext cx="9144000" cy="292609"/>
          </a:xfrm>
          <a:prstGeom prst="rect">
            <a:avLst/>
          </a:prstGeom>
          <a:solidFill>
            <a:srgbClr val="E8EEF4"/>
          </a:solidFill>
          <a:ln w="12700">
            <a:miter lim="400000"/>
          </a:ln>
        </p:spPr>
        <p:txBody>
          <a:bodyPr lIns="45719" rIns="45719"/>
          <a:lstStyle/>
          <a:p>
            <a:pPr/>
          </a:p>
        </p:txBody>
      </p:sp>
      <p:sp>
        <p:nvSpPr>
          <p:cNvPr id="300" name="Text 17"/>
          <p:cNvSpPr txBox="1"/>
          <p:nvPr/>
        </p:nvSpPr>
        <p:spPr>
          <a:xfrm>
            <a:off x="411479" y="4860080"/>
            <a:ext cx="832104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000">
                <a:solidFill>
                  <a:srgbClr val="2C3E6B"/>
                </a:solidFill>
              </a:defRPr>
            </a:lvl1pPr>
          </a:lstStyle>
          <a:p>
            <a:pPr/>
            <a:r>
              <a:t>Selection explains who exited.  It does not explain why survivors stopped responding.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